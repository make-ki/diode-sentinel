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731520" y="1828800"/>
            <a:ext cx="10728655" cy="3108960"/>
          </a:xfrm>
          <a:prstGeom prst="rect">
            <a:avLst/>
          </a:prstGeom>
          <a:noFill/>
        </p:spPr>
        <p:txBody>
          <a:bodyPr wrap="square">
            <a:spAutoFit/>
          </a:bodyPr>
          <a:lstStyle/>
          <a:p>
            <a:pPr>
              <a:defRPr sz="5800" b="1">
                <a:solidFill>
                  <a:srgbClr val="58A6FF"/>
                </a:solidFill>
              </a:defRPr>
            </a:pPr>
            <a:r>
              <a:t>Diode Sentinel</a:t>
            </a:r>
          </a:p>
          <a:p>
            <a:pPr>
              <a:spcAft>
                <a:spcPts val="800"/>
              </a:spcAft>
              <a:defRPr sz="2200">
                <a:solidFill>
                  <a:srgbClr val="E6EDF3"/>
                </a:solidFill>
              </a:defRPr>
            </a:pPr>
            <a:r>
              <a:t>AI-Based Detection of Cyber Threats in Unidirectional IP Traffic</a:t>
            </a:r>
          </a:p>
          <a:p>
            <a:pPr>
              <a:spcAft>
                <a:spcPts val="800"/>
              </a:spcAft>
              <a:defRPr sz="1600">
                <a:solidFill>
                  <a:srgbClr val="9DA5B0"/>
                </a:solidFill>
              </a:defRPr>
            </a:pPr>
            <a:r>
              <a:t>PS-26145 · NTRO · Software · Blockchain &amp; Cybersecurity</a:t>
            </a:r>
          </a:p>
          <a:p>
            <a:pPr>
              <a:spcAft>
                <a:spcPts val="800"/>
              </a:spcAft>
              <a:defRPr sz="800">
                <a:solidFill>
                  <a:srgbClr val="9DA5B0"/>
                </a:solidFill>
              </a:defRPr>
            </a:pPr>
          </a:p>
          <a:p>
            <a:pPr>
              <a:spcAft>
                <a:spcPts val="800"/>
              </a:spcAft>
              <a:defRPr sz="1500">
                <a:solidFill>
                  <a:srgbClr val="3FB950"/>
                </a:solidFill>
              </a:defRPr>
            </a:pPr>
            <a:r>
              <a:t>Every claim below is anchored to a file you can open on stage.</a:t>
            </a:r>
          </a:p>
          <a:p>
            <a:pPr>
              <a:spcAft>
                <a:spcPts val="800"/>
              </a:spcAft>
              <a:defRPr sz="1500">
                <a:solidFill>
                  <a:srgbClr val="3FB950"/>
                </a:solidFill>
              </a:defRPr>
            </a:pPr>
            <a:r>
              <a:t>Where something is a gap, the deck says 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A threat detector inside a room with no door</a:t>
            </a:r>
          </a:p>
          <a:p>
            <a:pPr>
              <a:defRPr sz="1400">
                <a:solidFill>
                  <a:srgbClr val="9DA5B0"/>
                </a:solidFill>
              </a:defRPr>
            </a:pPr>
            <a:r>
              <a:t>The framing that reframes every judge question</a:t>
            </a:r>
          </a:p>
        </p:txBody>
      </p:sp>
      <p:sp>
        <p:nvSpPr>
          <p:cNvPr id="4" name="Rounded Rectangle 3"/>
          <p:cNvSpPr/>
          <p:nvPr/>
        </p:nvSpPr>
        <p:spPr>
          <a:xfrm>
            <a:off x="502920" y="1371600"/>
            <a:ext cx="11185855" cy="155448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637215" cy="1097280"/>
          </a:xfrm>
          <a:prstGeom prst="rect">
            <a:avLst/>
          </a:prstGeom>
          <a:noFill/>
        </p:spPr>
        <p:txBody>
          <a:bodyPr wrap="square">
            <a:spAutoFit/>
          </a:bodyPr>
          <a:lstStyle/>
          <a:p>
            <a:pPr>
              <a:defRPr sz="2100" i="1">
                <a:solidFill>
                  <a:srgbClr val="E6EDF3"/>
                </a:solidFill>
              </a:defRPr>
            </a:pPr>
            <a:r>
              <a:t>“The statement does not ask for a threat detector. It asks for a threat detector inside a room with no door. Anyone can run an IDS on a mirror port; the entire difficulty is that we are forbidden from asking the network a single question.”</a:t>
            </a:r>
          </a:p>
        </p:txBody>
      </p:sp>
      <p:sp>
        <p:nvSpPr>
          <p:cNvPr id="6" name="TextBox 5"/>
          <p:cNvSpPr txBox="1"/>
          <p:nvPr/>
        </p:nvSpPr>
        <p:spPr>
          <a:xfrm>
            <a:off x="502920" y="3246120"/>
            <a:ext cx="11185855" cy="3291840"/>
          </a:xfrm>
          <a:prstGeom prst="rect">
            <a:avLst/>
          </a:prstGeom>
          <a:noFill/>
        </p:spPr>
        <p:txBody>
          <a:bodyPr wrap="square">
            <a:spAutoFit/>
          </a:bodyPr>
          <a:lstStyle/>
          <a:p>
            <a:pPr>
              <a:spcAft>
                <a:spcPts val="600"/>
              </a:spcAft>
              <a:defRPr sz="1700">
                <a:solidFill>
                  <a:srgbClr val="E6EDF3"/>
                </a:solidFill>
              </a:defRPr>
            </a:pPr>
            <a:r>
              <a:t>This shifts every question from “does it detect X?” to “did you respect the constraint?” — which is the fight we win.</a:t>
            </a:r>
          </a:p>
          <a:p>
            <a:pPr>
              <a:spcAft>
                <a:spcPts val="600"/>
              </a:spcAft>
              <a:defRPr sz="1700">
                <a:solidFill>
                  <a:srgbClr val="9DA5B0"/>
                </a:solidFill>
              </a:defRPr>
            </a:pPr>
            <a:r>
              <a:t>A hardware data diode copies the gateway link into a monitoring enclave with no path back.</a:t>
            </a:r>
          </a:p>
          <a:p>
            <a:pPr>
              <a:spcAft>
                <a:spcPts val="600"/>
              </a:spcAft>
              <a:defRPr sz="1700">
                <a:solidFill>
                  <a:srgbClr val="9DA5B0"/>
                </a:solidFill>
              </a:defRPr>
            </a:pPr>
            <a:r>
              <a:t>So: no probes, no completed handshakes, no decrypted payloads, no replies of any kind.</a:t>
            </a:r>
          </a:p>
          <a:p>
            <a:pPr>
              <a:spcAft>
                <a:spcPts val="600"/>
              </a:spcAft>
              <a:defRPr sz="1700">
                <a:solidFill>
                  <a:srgbClr val="58A6FF"/>
                </a:solidFill>
              </a:defRPr>
            </a:pPr>
            <a:r>
              <a:t>Every detector in this system runs on one direction of traffic.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observability contract — our actual contribution</a:t>
            </a:r>
          </a:p>
          <a:p>
            <a:pPr>
              <a:defRPr sz="1400">
                <a:solidFill>
                  <a:srgbClr val="9DA5B0"/>
                </a:solidFill>
              </a:defRPr>
            </a:pPr>
            <a:r>
              <a:t>core/observability.py · 21 rows · each cites the feature, the PS class, the status, the reason</a:t>
            </a:r>
          </a:p>
        </p:txBody>
      </p:sp>
      <p:pic>
        <p:nvPicPr>
          <p:cNvPr id="4" name="Picture 3" descr="contract.png"/>
          <p:cNvPicPr>
            <a:picLocks noChangeAspect="1"/>
          </p:cNvPicPr>
          <p:nvPr/>
        </p:nvPicPr>
        <p:blipFill>
          <a:blip r:embed="rId2"/>
          <a:stretch>
            <a:fillRect/>
          </a:stretch>
        </p:blipFill>
        <p:spPr>
          <a:xfrm>
            <a:off x="411480" y="1078992"/>
            <a:ext cx="7040880" cy="3960495"/>
          </a:xfrm>
          <a:prstGeom prst="rect">
            <a:avLst/>
          </a:prstGeom>
        </p:spPr>
      </p:pic>
      <p:sp>
        <p:nvSpPr>
          <p:cNvPr id="5" name="TextBox 4"/>
          <p:cNvSpPr txBox="1"/>
          <p:nvPr/>
        </p:nvSpPr>
        <p:spPr>
          <a:xfrm>
            <a:off x="7726679" y="1234440"/>
            <a:ext cx="4" cy="5303520"/>
          </a:xfrm>
          <a:prstGeom prst="rect">
            <a:avLst/>
          </a:prstGeom>
          <a:noFill/>
        </p:spPr>
        <p:txBody>
          <a:bodyPr wrap="square">
            <a:spAutoFit/>
          </a:bodyPr>
          <a:lstStyle/>
          <a:p>
            <a:pPr>
              <a:spcAft>
                <a:spcPts val="600"/>
              </a:spcAft>
              <a:defRPr sz="1400">
                <a:solidFill>
                  <a:srgbClr val="E6EDF3"/>
                </a:solidFill>
              </a:defRPr>
            </a:pPr>
            <a:r>
              <a:t>Every team will build detectors. The finding no other submission will have is knowing which requested features can exist at all.</a:t>
            </a:r>
          </a:p>
          <a:p>
            <a:pPr>
              <a:spcAft>
                <a:spcPts val="600"/>
              </a:spcAft>
              <a:defRPr sz="1400">
                <a:solidFill>
                  <a:srgbClr val="58A6FF"/>
                </a:solidFill>
              </a:defRPr>
            </a:pPr>
            <a:r>
              <a:t>The contract is enforced, not descriptive.</a:t>
            </a:r>
          </a:p>
          <a:p>
            <a:pPr lvl="1">
              <a:spcAft>
                <a:spcPts val="600"/>
              </a:spcAft>
              <a:defRPr sz="1200">
                <a:solidFill>
                  <a:srgbClr val="E6EDF3"/>
                </a:solidFill>
              </a:defRPr>
            </a:pPr>
            <a:r>
              <a:t>tests/test_contract.py scans detector sources for forbidden bidirectional tokens — ja3s, server_hello, rcode, nxdomain, ttl, rtt, bytes_in, in_out_ratio — and FAILS THE BUILD on a hit.</a:t>
            </a:r>
          </a:p>
          <a:p>
            <a:pPr lvl="1">
              <a:spcAft>
                <a:spcPts val="600"/>
              </a:spcAft>
              <a:defRPr sz="1200">
                <a:solidFill>
                  <a:srgbClr val="9DA5B0"/>
                </a:solidFill>
              </a:defRPr>
            </a:pPr>
            <a:r>
              <a:t>Verified to fail on an injected rcode read and pass once removed.</a:t>
            </a:r>
          </a:p>
          <a:p>
            <a:pPr>
              <a:spcAft>
                <a:spcPts val="600"/>
              </a:spcAft>
              <a:defRPr sz="1400">
                <a:solidFill>
                  <a:srgbClr val="E6EDF3"/>
                </a:solidFill>
              </a:defRPr>
            </a:pPr>
            <a:r>
              <a:t>The one SUBSTITUTED row: UDP reflection is defined by response size, so we substitute per-source UDP fan-out cardinality.</a:t>
            </a:r>
          </a:p>
          <a:p>
            <a:pPr>
              <a:spcAft>
                <a:spcPts val="600"/>
              </a:spcAft>
              <a:defRPr sz="1400">
                <a:solidFill>
                  <a:srgbClr val="E6EDF3"/>
                </a:solidFill>
              </a:defRPr>
            </a:pPr>
            <a:r>
              <a:t>The five IMPOSSIBLE rows are named with the physical reason each is absent — and the substitute we use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Five requested features are impossible under the PS’s own constraint</a:t>
            </a:r>
          </a:p>
          <a:p>
            <a:pPr>
              <a:defRPr sz="1400">
                <a:solidFill>
                  <a:srgbClr val="9DA5B0"/>
                </a:solidFill>
              </a:defRPr>
            </a:pPr>
            <a:r>
              <a:t>This is a finding about the problem statement, not a limitation of our code</a:t>
            </a:r>
          </a:p>
        </p:txBody>
      </p:sp>
      <p:graphicFrame>
        <p:nvGraphicFramePr>
          <p:cNvPr id="4" name="Table 3"/>
          <p:cNvGraphicFramePr>
            <a:graphicFrameLocks noGrp="1"/>
          </p:cNvGraphicFramePr>
          <p:nvPr/>
        </p:nvGraphicFramePr>
        <p:xfrm>
          <a:off x="502920" y="1417320"/>
          <a:ext cx="11155677" cy="1865376"/>
        </p:xfrm>
        <a:graphic>
          <a:graphicData uri="http://schemas.openxmlformats.org/drawingml/2006/table">
            <a:tbl>
              <a:tblPr firstRow="1" bandRow="1">
                <a:tableStyleId>{5C22544A-7EE6-4342-B048-85BDC9FD1C3A}</a:tableStyleId>
              </a:tblPr>
              <a:tblGrid>
                <a:gridCol w="822959"/>
                <a:gridCol w="3108959"/>
                <a:gridCol w="7223759"/>
              </a:tblGrid>
              <a:tr h="310896">
                <a:tc>
                  <a:txBody>
                    <a:bodyPr/>
                    <a:lstStyle/>
                    <a:p>
                      <a:pPr>
                        <a:defRPr sz="1300" b="1">
                          <a:solidFill>
                            <a:srgbClr val="58A6FF"/>
                          </a:solidFill>
                        </a:defRPr>
                      </a:pPr>
                      <a:r>
                        <a:t>PS class</a:t>
                      </a:r>
                    </a:p>
                  </a:txBody>
                  <a:tcPr marL="73152" marR="54864" marT="18288" marB="18288" anchor="ctr">
                    <a:solidFill>
                      <a:srgbClr val="1C222B"/>
                    </a:solidFill>
                  </a:tcPr>
                </a:tc>
                <a:tc>
                  <a:txBody>
                    <a:bodyPr/>
                    <a:lstStyle/>
                    <a:p>
                      <a:pPr>
                        <a:defRPr sz="1300" b="1">
                          <a:solidFill>
                            <a:srgbClr val="58A6FF"/>
                          </a:solidFill>
                        </a:defRPr>
                      </a:pPr>
                      <a:r>
                        <a:t>Requested feature</a:t>
                      </a:r>
                    </a:p>
                  </a:txBody>
                  <a:tcPr marL="73152" marR="54864" marT="18288" marB="18288" anchor="ctr">
                    <a:solidFill>
                      <a:srgbClr val="1C222B"/>
                    </a:solidFill>
                  </a:tcPr>
                </a:tc>
                <a:tc>
                  <a:txBody>
                    <a:bodyPr/>
                    <a:lstStyle/>
                    <a:p>
                      <a:pPr>
                        <a:defRPr sz="1300" b="1">
                          <a:solidFill>
                            <a:srgbClr val="58A6FF"/>
                          </a:solidFill>
                        </a:defRPr>
                      </a:pPr>
                      <a:r>
                        <a:t>Why it cannot exist one-way</a:t>
                      </a:r>
                    </a:p>
                  </a:txBody>
                  <a:tcPr marL="73152" marR="54864" marT="18288" marB="18288" anchor="ctr">
                    <a:solidFill>
                      <a:srgbClr val="1C222B"/>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JA3S / JA4S server fingerprint</a:t>
                      </a:r>
                    </a:p>
                  </a:txBody>
                  <a:tcPr marL="73152" marR="54864" marT="18288" marB="18288" anchor="ctr">
                    <a:solidFill>
                      <a:srgbClr val="161B22"/>
                    </a:solidFill>
                  </a:tcPr>
                </a:tc>
                <a:tc>
                  <a:txBody>
                    <a:bodyPr/>
                    <a:lstStyle/>
                    <a:p>
                      <a:pPr>
                        <a:defRPr sz="1300" b="0">
                          <a:solidFill>
                            <a:srgbClr val="E6EDF3"/>
                          </a:solidFill>
                        </a:defRPr>
                      </a:pPr>
                      <a:r>
                        <a:t>computed from the ServerHello — sent by the responder, the wrong direction</a:t>
                      </a:r>
                    </a:p>
                  </a:txBody>
                  <a:tcPr marL="73152" marR="54864" marT="18288" marB="18288" anchor="ctr">
                    <a:solidFill>
                      <a:srgbClr val="161B22"/>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negotiated cipher / server certificate</a:t>
                      </a:r>
                    </a:p>
                  </a:txBody>
                  <a:tcPr marL="73152" marR="54864" marT="18288" marB="18288" anchor="ctr">
                    <a:solidFill>
                      <a:srgbClr val="161B22"/>
                    </a:solidFill>
                  </a:tcPr>
                </a:tc>
                <a:tc>
                  <a:txBody>
                    <a:bodyPr/>
                    <a:lstStyle/>
                    <a:p>
                      <a:pPr>
                        <a:defRPr sz="1300" b="0">
                          <a:solidFill>
                            <a:srgbClr val="E6EDF3"/>
                          </a:solidFill>
                        </a:defRPr>
                      </a:pPr>
                      <a:r>
                        <a:t>both chosen by the responder after the handshake, off the observable path</a:t>
                      </a:r>
                    </a:p>
                  </a:txBody>
                  <a:tcPr marL="73152" marR="54864" marT="18288" marB="18288" anchor="ctr">
                    <a:solidFill>
                      <a:srgbClr val="161B22"/>
                    </a:solidFill>
                  </a:tcPr>
                </a:tc>
              </a:tr>
              <a:tr h="310896">
                <a:tc>
                  <a:txBody>
                    <a:bodyPr/>
                    <a:lstStyle/>
                    <a:p>
                      <a:pPr>
                        <a:defRPr sz="1300" b="0">
                          <a:solidFill>
                            <a:srgbClr val="E6EDF3"/>
                          </a:solidFill>
                        </a:defRPr>
                      </a:pPr>
                      <a:r>
                        <a:t>(b)</a:t>
                      </a:r>
                    </a:p>
                  </a:txBody>
                  <a:tcPr marL="73152" marR="54864" marT="18288" marB="18288" anchor="ctr">
                    <a:solidFill>
                      <a:srgbClr val="161B22"/>
                    </a:solidFill>
                  </a:tcPr>
                </a:tc>
                <a:tc>
                  <a:txBody>
                    <a:bodyPr/>
                    <a:lstStyle/>
                    <a:p>
                      <a:pPr>
                        <a:defRPr sz="1300" b="0">
                          <a:solidFill>
                            <a:srgbClr val="E6EDF3"/>
                          </a:solidFill>
                        </a:defRPr>
                      </a:pPr>
                      <a:r>
                        <a:t>round-trip time</a:t>
                      </a:r>
                    </a:p>
                  </a:txBody>
                  <a:tcPr marL="73152" marR="54864" marT="18288" marB="18288" anchor="ctr">
                    <a:solidFill>
                      <a:srgbClr val="161B22"/>
                    </a:solidFill>
                  </a:tcPr>
                </a:tc>
                <a:tc>
                  <a:txBody>
                    <a:bodyPr/>
                    <a:lstStyle/>
                    <a:p>
                      <a:pPr>
                        <a:defRPr sz="1300" b="0">
                          <a:solidFill>
                            <a:srgbClr val="E6EDF3"/>
                          </a:solidFill>
                        </a:defRPr>
                      </a:pPr>
                      <a:r>
                        <a:t>needs the response; one-way latency is unmeasurable without a return path</a:t>
                      </a:r>
                    </a:p>
                  </a:txBody>
                  <a:tcPr marL="73152" marR="54864" marT="18288" marB="18288" anchor="ctr">
                    <a:solidFill>
                      <a:srgbClr val="161B22"/>
                    </a:solidFill>
                  </a:tcPr>
                </a:tc>
              </a:tr>
              <a:tr h="310896">
                <a:tc>
                  <a:txBody>
                    <a:bodyPr/>
                    <a:lstStyle/>
                    <a:p>
                      <a:pPr>
                        <a:defRPr sz="1300" b="0">
                          <a:solidFill>
                            <a:srgbClr val="E6EDF3"/>
                          </a:solidFill>
                        </a:defRPr>
                      </a:pPr>
                      <a:r>
                        <a:t>(c)</a:t>
                      </a:r>
                    </a:p>
                  </a:txBody>
                  <a:tcPr marL="73152" marR="54864" marT="18288" marB="18288" anchor="ctr">
                    <a:solidFill>
                      <a:srgbClr val="161B22"/>
                    </a:solidFill>
                  </a:tcPr>
                </a:tc>
                <a:tc>
                  <a:txBody>
                    <a:bodyPr/>
                    <a:lstStyle/>
                    <a:p>
                      <a:pPr>
                        <a:defRPr sz="1300" b="0">
                          <a:solidFill>
                            <a:srgbClr val="E6EDF3"/>
                          </a:solidFill>
                        </a:defRPr>
                      </a:pPr>
                      <a:r>
                        <a:t>NXDOMAIN ratio</a:t>
                      </a:r>
                    </a:p>
                  </a:txBody>
                  <a:tcPr marL="73152" marR="54864" marT="18288" marB="18288" anchor="ctr">
                    <a:solidFill>
                      <a:srgbClr val="161B22"/>
                    </a:solidFill>
                  </a:tcPr>
                </a:tc>
                <a:tc>
                  <a:txBody>
                    <a:bodyPr/>
                    <a:lstStyle/>
                    <a:p>
                      <a:pPr>
                        <a:defRPr sz="1300" b="0">
                          <a:solidFill>
                            <a:srgbClr val="E6EDF3"/>
                          </a:solidFill>
                        </a:defRPr>
                      </a:pPr>
                      <a:r>
                        <a:t>RCODE lives in the DNS response header, which the diode never delivers</a:t>
                      </a:r>
                    </a:p>
                  </a:txBody>
                  <a:tcPr marL="73152" marR="54864" marT="18288" marB="18288" anchor="ctr">
                    <a:solidFill>
                      <a:srgbClr val="161B22"/>
                    </a:solidFill>
                  </a:tcPr>
                </a:tc>
              </a:tr>
              <a:tr h="310896">
                <a:tc>
                  <a:txBody>
                    <a:bodyPr/>
                    <a:lstStyle/>
                    <a:p>
                      <a:pPr>
                        <a:defRPr sz="1300" b="0">
                          <a:solidFill>
                            <a:srgbClr val="E6EDF3"/>
                          </a:solidFill>
                        </a:defRPr>
                      </a:pPr>
                      <a:r>
                        <a:t>(f)</a:t>
                      </a:r>
                    </a:p>
                  </a:txBody>
                  <a:tcPr marL="73152" marR="54864" marT="18288" marB="18288" anchor="ctr">
                    <a:solidFill>
                      <a:srgbClr val="161B22"/>
                    </a:solidFill>
                  </a:tcPr>
                </a:tc>
                <a:tc>
                  <a:txBody>
                    <a:bodyPr/>
                    <a:lstStyle/>
                    <a:p>
                      <a:pPr>
                        <a:defRPr sz="1300" b="0">
                          <a:solidFill>
                            <a:srgbClr val="E6EDF3"/>
                          </a:solidFill>
                        </a:defRPr>
                      </a:pPr>
                      <a:r>
                        <a:t>outbound-to-inbound byte ratio</a:t>
                      </a:r>
                    </a:p>
                  </a:txBody>
                  <a:tcPr marL="73152" marR="54864" marT="18288" marB="18288" anchor="ctr">
                    <a:solidFill>
                      <a:srgbClr val="161B22"/>
                    </a:solidFill>
                  </a:tcPr>
                </a:tc>
                <a:tc>
                  <a:txBody>
                    <a:bodyPr/>
                    <a:lstStyle/>
                    <a:p>
                      <a:pPr>
                        <a:defRPr sz="1300" b="0">
                          <a:solidFill>
                            <a:srgbClr val="E6EDF3"/>
                          </a:solidFill>
                        </a:defRPr>
                      </a:pPr>
                      <a:r>
                        <a:t>the inbound half is never seen, so the ratio has no denominator</a:t>
                      </a:r>
                    </a:p>
                  </a:txBody>
                  <a:tcPr marL="73152" marR="54864" marT="18288" marB="18288" anchor="ctr">
                    <a:solidFill>
                      <a:srgbClr val="161B22"/>
                    </a:solidFill>
                  </a:tcPr>
                </a:tc>
              </a:tr>
            </a:tbl>
          </a:graphicData>
        </a:graphic>
      </p:graphicFrame>
      <p:sp>
        <p:nvSpPr>
          <p:cNvPr id="5" name="Rounded Rectangle 4"/>
          <p:cNvSpPr/>
          <p:nvPr/>
        </p:nvSpPr>
        <p:spPr>
          <a:xfrm>
            <a:off x="502920" y="48920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983479"/>
            <a:ext cx="10820095" cy="685800"/>
          </a:xfrm>
          <a:prstGeom prst="rect">
            <a:avLst/>
          </a:prstGeom>
          <a:noFill/>
        </p:spPr>
        <p:txBody>
          <a:bodyPr wrap="square">
            <a:spAutoFit/>
          </a:bodyPr>
          <a:lstStyle/>
          <a:p>
            <a:pPr>
              <a:defRPr sz="1500" i="1">
                <a:solidFill>
                  <a:srgbClr val="3FB950"/>
                </a:solidFill>
              </a:defRPr>
            </a:pPr>
            <a:r>
              <a:t>“Five of the features the problem statement asks us to implement are made impossible by the problem statement’s own first constraint. That is not our limitation — it is the geometry of a diode. A detector that reads one anyway does not fail loudly, it silently produces garbage, so we made the contract enforceable rather than descriptive.”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Where a feature is impossible, we built the closest observable substitute</a:t>
            </a:r>
          </a:p>
          <a:p>
            <a:pPr>
              <a:defRPr sz="1400">
                <a:solidFill>
                  <a:srgbClr val="9DA5B0"/>
                </a:solidFill>
              </a:defRPr>
            </a:pPr>
            <a:r>
              <a:t>and put the substitute’s arithmetic on the alert so it can be audited</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Exfiltration — the ratio has no denominator one-way. Instead:</a:t>
            </a:r>
          </a:p>
          <a:p>
            <a:pPr lvl="1">
              <a:spcAft>
                <a:spcPts val="600"/>
              </a:spcAft>
              <a:defRPr sz="1300">
                <a:solidFill>
                  <a:srgbClr val="E6EDF3"/>
                </a:solidFill>
              </a:defRPr>
            </a:pPr>
            <a:r>
              <a:t>cumulative bytes to a (src, dst) pair the source has never spoken to, and</a:t>
            </a:r>
          </a:p>
          <a:p>
            <a:pPr lvl="1">
              <a:spcAft>
                <a:spcPts val="600"/>
              </a:spcAft>
              <a:defRPr sz="1300">
                <a:solidFill>
                  <a:srgbClr val="E6EDF3"/>
                </a:solidFill>
              </a:defRPr>
            </a:pPr>
            <a:r>
              <a:t>that total against the source’s own median bytes per window, with a pair-age guard so a long transfer cannot slip under the bar in later windows.</a:t>
            </a:r>
          </a:p>
          <a:p>
            <a:pPr lvl="1">
              <a:spcAft>
                <a:spcPts val="600"/>
              </a:spcAft>
              <a:defRPr sz="1300">
                <a:solidFill>
                  <a:srgbClr val="9DA5B0"/>
                </a:solidFill>
              </a:defRPr>
            </a:pPr>
            <a:r>
              <a:t>Every exfil alert carries bytes_to_new_dst, src_baseline_bytes_median, ratio_vs_baseline, pair_age_windows.  (core/detectors.py → ExfilDetector)</a:t>
            </a:r>
          </a:p>
          <a:p>
            <a:pPr>
              <a:spcAft>
                <a:spcPts val="600"/>
              </a:spcAft>
              <a:defRPr sz="1500">
                <a:solidFill>
                  <a:srgbClr val="58A6FF"/>
                </a:solidFill>
              </a:defRPr>
            </a:pPr>
            <a:r>
              <a:t>DGA — the standard pipeline counts NXDOMAINs, which is a response. Instead:</a:t>
            </a:r>
          </a:p>
          <a:p>
            <a:pPr lvl="1">
              <a:spcAft>
                <a:spcPts val="600"/>
              </a:spcAft>
              <a:defRPr sz="1300">
                <a:solidFill>
                  <a:srgbClr val="E6EDF3"/>
                </a:solidFill>
              </a:defRPr>
            </a:pPr>
            <a:r>
              <a:t>detect from the query alone: character entropy + lexical profile + a streak requirement. The alert states the limitation in its own evidence.</a:t>
            </a:r>
          </a:p>
          <a:p>
            <a:pPr>
              <a:spcAft>
                <a:spcPts val="600"/>
              </a:spcAft>
              <a:defRPr sz="1500">
                <a:solidFill>
                  <a:srgbClr val="58A6FF"/>
                </a:solidFill>
              </a:defRPr>
            </a:pPr>
            <a:r>
              <a:t>TLS — JA3S and server-side fields are off the table. Instead:</a:t>
            </a:r>
          </a:p>
          <a:p>
            <a:pPr lvl="1">
              <a:spcAft>
                <a:spcPts val="600"/>
              </a:spcAft>
              <a:defRPr sz="1300">
                <a:solidFill>
                  <a:srgbClr val="E6EDF3"/>
                </a:solidFill>
              </a:defRPr>
            </a:pPr>
            <a:r>
              <a:t>JA4 (client) with JA3 alongside; every alert states that server-side fields are invisible. A wrong fingerprint is worse than no fingerprint, so we wrote an ACK-less sequence tracker for retransmits and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one place the cryptography hands you the metadata for free</a:t>
            </a:r>
          </a:p>
          <a:p>
            <a:pPr>
              <a:defRPr sz="1400">
                <a:solidFill>
                  <a:srgbClr val="9DA5B0"/>
                </a:solidFill>
              </a:defRPr>
            </a:pPr>
            <a:r>
              <a:t>QUIC Initial packets are decryptable with no secret at all</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600">
                <a:solidFill>
                  <a:srgbClr val="E6EDF3"/>
                </a:solidFill>
              </a:defRPr>
            </a:pPr>
            <a:r>
              <a:t>RFC 9001 derives the QUIC Initial keys from a public version salt plus the connection ID — no secret, no key material, no certificate.</a:t>
            </a:r>
          </a:p>
          <a:p>
            <a:pPr>
              <a:spcAft>
                <a:spcPts val="600"/>
              </a:spcAft>
              <a:defRPr sz="1600">
                <a:solidFill>
                  <a:srgbClr val="E6EDF3"/>
                </a:solidFill>
              </a:defRPr>
            </a:pPr>
            <a:r>
              <a:t>So we pull a real JA4 out of QUIC on a one-way feed, where TLS server fingerprints are structurally impossible.</a:t>
            </a:r>
          </a:p>
          <a:p>
            <a:pPr>
              <a:spcAft>
                <a:spcPts val="600"/>
              </a:spcAft>
              <a:defRPr sz="1600">
                <a:solidFill>
                  <a:srgbClr val="58A6FF"/>
                </a:solidFill>
              </a:defRPr>
            </a:pPr>
            <a:r>
              <a:t>We proved it rather than asserted it:</a:t>
            </a:r>
          </a:p>
          <a:p>
            <a:pPr lvl="1">
              <a:spcAft>
                <a:spcPts val="600"/>
              </a:spcAft>
              <a:defRPr sz="1400">
                <a:solidFill>
                  <a:srgbClr val="E6EDF3"/>
                </a:solidFill>
              </a:defRPr>
            </a:pPr>
            <a:r>
              <a:t>the JA4 extracted from a decrypted QUIC Initial is byte-identical to the direct TLS parse (tests/test_quic.py), and</a:t>
            </a:r>
          </a:p>
          <a:p>
            <a:pPr lvl="1">
              <a:spcAft>
                <a:spcPts val="600"/>
              </a:spcAft>
              <a:defRPr sz="1400">
                <a:solidFill>
                  <a:srgbClr val="E6EDF3"/>
                </a:solidFill>
              </a:defRPr>
            </a:pPr>
            <a:r>
              <a:t>a GCM-tampered packet is rejected rather than mis-fingerprinted.</a:t>
            </a:r>
          </a:p>
          <a:p>
            <a:pPr>
              <a:spcAft>
                <a:spcPts val="600"/>
              </a:spcAft>
              <a:defRPr sz="1600">
                <a:solidFill>
                  <a:srgbClr val="9DA5B0"/>
                </a:solidFill>
              </a:defRPr>
            </a:pPr>
            <a:r>
              <a:t>This is not “decryption” of payload: the Initial is decryptable by protocol design, with public inputs. No payload content is ever read.</a:t>
            </a:r>
          </a:p>
        </p:txBody>
      </p:sp>
      <p:sp>
        <p:nvSpPr>
          <p:cNvPr id="5" name="Rounded Rectangle 4"/>
          <p:cNvSpPr/>
          <p:nvPr/>
        </p:nvSpPr>
        <p:spPr>
          <a:xfrm>
            <a:off x="502920" y="539496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86400"/>
            <a:ext cx="10820095" cy="685800"/>
          </a:xfrm>
          <a:prstGeom prst="rect">
            <a:avLst/>
          </a:prstGeom>
          <a:noFill/>
        </p:spPr>
        <p:txBody>
          <a:bodyPr wrap="square">
            <a:spAutoFit/>
          </a:bodyPr>
          <a:lstStyle/>
          <a:p>
            <a:pPr>
              <a:defRPr sz="1500" i="1">
                <a:solidFill>
                  <a:srgbClr val="3FB950"/>
                </a:solidFill>
              </a:defRPr>
            </a:pPr>
            <a:r>
              <a:t>Judge follow-up to prep: “isn’t that decryption?” → No payload is decrypted. It is the one place the protocol design exposes the metadata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Streaming with bounded latency — and a chain of custody that is reproducible</a:t>
            </a:r>
          </a:p>
          <a:p>
            <a:pPr>
              <a:defRPr sz="1400">
                <a:solidFill>
                  <a:srgbClr val="9DA5B0"/>
                </a:solidFill>
              </a:defRPr>
            </a:pPr>
            <a:r>
              <a:t>Two constraints that eliminate most submissions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58A6FF"/>
                </a:solidFill>
              </a:defRPr>
            </a:pPr>
            <a:r>
              <a:t>The clock closes our windows, not the traffic.</a:t>
            </a:r>
          </a:p>
          <a:p>
            <a:pPr lvl="1">
              <a:spcAft>
                <a:spcPts val="600"/>
              </a:spcAft>
              <a:defRPr sz="1150">
                <a:solidFill>
                  <a:srgbClr val="E6EDF3"/>
                </a:solidFill>
              </a:defRPr>
            </a:pPr>
            <a:r>
              <a:t>A tumbling window that only closes when the next packet arrives cannot score a flood followed by silence — the verdict sits unscored: unbounded latency on a sensor whose entire claim is bounded latency.</a:t>
            </a:r>
          </a:p>
          <a:p>
            <a:pPr lvl="1">
              <a:spcAft>
                <a:spcPts val="600"/>
              </a:spcAft>
              <a:defRPr sz="1150">
                <a:solidFill>
                  <a:srgbClr val="9DA5B0"/>
                </a:solidFill>
              </a:defRPr>
            </a:pPr>
            <a:r>
              <a:t>Freeze the clock in the tests and the flood verdict only appears at end-of-run; advance it and it appears during the capture (tests/test_live.py).</a:t>
            </a:r>
          </a:p>
          <a:p>
            <a:pPr lvl="1">
              <a:spcAft>
                <a:spcPts val="600"/>
              </a:spcAft>
              <a:defRPr sz="1150">
                <a:solidFill>
                  <a:srgbClr val="E6EDF3"/>
                </a:solidFill>
              </a:defRPr>
            </a:pPr>
            <a:r>
              <a:t>Budget: ≤ 2 s flow-idle timeout, ≤ 10 s window — bounded by construction, not measured as a tail.</a:t>
            </a:r>
          </a:p>
          <a:p>
            <a:pPr>
              <a:spcAft>
                <a:spcPts val="600"/>
              </a:spcAft>
              <a:defRPr sz="1350">
                <a:solidFill>
                  <a:srgbClr val="58A6FF"/>
                </a:solidFill>
              </a:defRPr>
            </a:pPr>
            <a:r>
              <a:t>Read-only ingest also constrains our own capture plumbing:</a:t>
            </a:r>
          </a:p>
          <a:p>
            <a:pPr lvl="1">
              <a:spcAft>
                <a:spcPts val="600"/>
              </a:spcAft>
              <a:defRPr sz="1150">
                <a:solidFill>
                  <a:srgbClr val="E6EDF3"/>
                </a:solidFill>
              </a:defRPr>
            </a:pPr>
            <a:r>
              <a:t>a non-packet-buffered FIFO writer (dumpcap without -U) quietly destroys the latency claim; PACKET_STATISTICS is read-and-clear, so drops are deltas.</a:t>
            </a:r>
          </a:p>
          <a:p>
            <a:pPr lvl="1">
              <a:spcAft>
                <a:spcPts val="600"/>
              </a:spcAft>
              <a:defRPr sz="1150">
                <a:solidFill>
                  <a:srgbClr val="E6EDF3"/>
                </a:solidFill>
              </a:defRPr>
            </a:pPr>
            <a:r>
              <a:t>We found a real bug where ICMP/GRE/ESP frames were dropped without incrementing any counter — thrown-away frames looked processed. Fixed with an explicit counter and a tested invariant that the buckets partition everything seen.</a:t>
            </a:r>
          </a:p>
          <a:p>
            <a:pPr>
              <a:spcAft>
                <a:spcPts val="600"/>
              </a:spcAft>
              <a:defRPr sz="1350">
                <a:solidFill>
                  <a:srgbClr val="58A6FF"/>
                </a:solidFill>
              </a:defRPr>
            </a:pPr>
            <a:r>
              <a:t>Forensics = reproducible + accurate:</a:t>
            </a:r>
          </a:p>
          <a:p>
            <a:pPr lvl="1">
              <a:spcAft>
                <a:spcPts val="600"/>
              </a:spcAft>
              <a:defRPr sz="1150">
                <a:solidFill>
                  <a:srgbClr val="E6EDF3"/>
                </a:solidFill>
              </a:defRPr>
            </a:pPr>
            <a:r>
              <a:t>replay reproduces the alert files byte-for-byte against committed regression fixtures, and dpkt vs scapy parity is asserted identical (--parity).</a:t>
            </a:r>
          </a:p>
          <a:p>
            <a:pPr lvl="1">
              <a:spcAft>
                <a:spcPts val="600"/>
              </a:spcAft>
              <a:defRPr sz="1150">
                <a:solidFill>
                  <a:srgbClr val="E6EDF3"/>
                </a:solidFill>
              </a:defRPr>
            </a:pPr>
            <a:r>
              <a:t>we also caught our own evidence bug: live timestamps rendered the millisecond field one second off — invisible offline, fatal live. The timestamp is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Class (a) — three answers to have ready before a judge notices</a:t>
            </a:r>
          </a:p>
          <a:p>
            <a:pPr>
              <a:defRPr sz="1400">
                <a:solidFill>
                  <a:srgbClr val="9DA5B0"/>
                </a:solidFill>
              </a:defRPr>
            </a:pPr>
            <a:r>
              <a:t>Volumetric / protocol DDoS from flow-level rate and source-IP entropy</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There is no ddos_syn_flood in the shipped alert file — and that is correct.</a:t>
            </a:r>
          </a:p>
          <a:p>
            <a:pPr lvl="1">
              <a:spcAft>
                <a:spcPts val="600"/>
              </a:spcAft>
              <a:defRPr sz="1300">
                <a:solidFill>
                  <a:srgbClr val="E6EDF3"/>
                </a:solidFill>
              </a:defRPr>
            </a:pPr>
            <a:r>
              <a:t>The spoofed-source branch (distinct source IPs ≥ 500) is checked first and is strictly more specific, so a spoofed SYN flood is reported once as ddos_volumetric_spoofed, with syn_ratio in the evidence (~0.93 on this capture).</a:t>
            </a:r>
          </a:p>
          <a:p>
            <a:pPr lvl="1">
              <a:spcAft>
                <a:spcPts val="600"/>
              </a:spcAft>
              <a:defRPr sz="1300">
                <a:solidFill>
                  <a:srgbClr val="9DA5B0"/>
                </a:solidFill>
              </a:defRPr>
            </a:pPr>
            <a:r>
              <a:t>Say that before someone greps for syn_flood and finds nothing.</a:t>
            </a:r>
          </a:p>
          <a:p>
            <a:pPr>
              <a:spcAft>
                <a:spcPts val="600"/>
              </a:spcAft>
              <a:defRPr sz="1500">
                <a:solidFill>
                  <a:srgbClr val="58A6FF"/>
                </a:solidFill>
              </a:defRPr>
            </a:pPr>
            <a:r>
              <a:t>“Is entropy actually used in the decision?”</a:t>
            </a:r>
          </a:p>
          <a:p>
            <a:pPr lvl="1">
              <a:spcAft>
                <a:spcPts val="600"/>
              </a:spcAft>
              <a:defRPr sz="1300">
                <a:solidFill>
                  <a:srgbClr val="E6EDF3"/>
                </a:solidFill>
              </a:defRPr>
            </a:pPr>
            <a:r>
              <a:t>The decision variable is distinct-source cardinality; Shannon entropy is computed and carried on the alert. They are the same information (entropy is bounded by log2(distinct)) and cardinality gives a threshold that does not drift with window occupancy.</a:t>
            </a:r>
          </a:p>
          <a:p>
            <a:pPr>
              <a:spcAft>
                <a:spcPts val="600"/>
              </a:spcAft>
              <a:defRPr sz="1500">
                <a:solidFill>
                  <a:srgbClr val="D29922"/>
                </a:solidFill>
              </a:defRPr>
            </a:pPr>
            <a:r>
              <a:t>UDP reflection / amplification is not separately modelled.</a:t>
            </a:r>
          </a:p>
          <a:p>
            <a:pPr lvl="1">
              <a:spcAft>
                <a:spcPts val="600"/>
              </a:spcAft>
              <a:defRPr sz="1300">
                <a:solidFill>
                  <a:srgbClr val="E6EDF3"/>
                </a:solidFill>
              </a:defRPr>
            </a:pPr>
            <a:r>
              <a:t>It is a volumetric flood and rate + entropy catches the symptom, but we do not characterise the reflection signature. Owned openly in the gaps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Throughput — stated and demonstrated, as the statement requires</a:t>
            </a:r>
          </a:p>
          <a:p>
            <a:pPr>
              <a:defRPr sz="1400">
                <a:solidFill>
                  <a:srgbClr val="9DA5B0"/>
                </a:solidFill>
              </a:defRPr>
            </a:pPr>
            <a:r>
              <a:t>Pure Python, one CPU core, no C extension, no GPU</a:t>
            </a:r>
          </a:p>
        </p:txBody>
      </p:sp>
      <p:graphicFrame>
        <p:nvGraphicFramePr>
          <p:cNvPr id="4" name="Table 3"/>
          <p:cNvGraphicFramePr>
            <a:graphicFrameLocks noGrp="1"/>
          </p:cNvGraphicFramePr>
          <p:nvPr/>
        </p:nvGraphicFramePr>
        <p:xfrm>
          <a:off x="502920" y="1371600"/>
          <a:ext cx="11155678" cy="932688"/>
        </p:xfrm>
        <a:graphic>
          <a:graphicData uri="http://schemas.openxmlformats.org/drawingml/2006/table">
            <a:tbl>
              <a:tblPr firstRow="1" bandRow="1">
                <a:tableStyleId>{5C22544A-7EE6-4342-B048-85BDC9FD1C3A}</a:tableStyleId>
              </a:tblPr>
              <a:tblGrid>
                <a:gridCol w="3305386"/>
                <a:gridCol w="2685626"/>
                <a:gridCol w="2479040"/>
                <a:gridCol w="2685626"/>
              </a:tblGrid>
              <a:tr h="310896">
                <a:tc>
                  <a:txBody>
                    <a:bodyPr/>
                    <a:lstStyle/>
                    <a:p>
                      <a:pPr>
                        <a:defRPr sz="1400" b="1">
                          <a:solidFill>
                            <a:srgbClr val="58A6FF"/>
                          </a:solidFill>
                        </a:defRPr>
                      </a:pPr>
                      <a:r>
                        <a:t>Mode</a:t>
                      </a:r>
                    </a:p>
                  </a:txBody>
                  <a:tcPr marL="73152" marR="54864" marT="18288" marB="18288" anchor="ctr">
                    <a:solidFill>
                      <a:srgbClr val="1C222B"/>
                    </a:solidFill>
                  </a:tcPr>
                </a:tc>
                <a:tc>
                  <a:txBody>
                    <a:bodyPr/>
                    <a:lstStyle/>
                    <a:p>
                      <a:pPr>
                        <a:defRPr sz="1400" b="1">
                          <a:solidFill>
                            <a:srgbClr val="58A6FF"/>
                          </a:solidFill>
                        </a:defRPr>
                      </a:pPr>
                      <a:r>
                        <a:t>Packets/s</a:t>
                      </a:r>
                    </a:p>
                  </a:txBody>
                  <a:tcPr marL="73152" marR="54864" marT="18288" marB="18288" anchor="ctr">
                    <a:solidFill>
                      <a:srgbClr val="1C222B"/>
                    </a:solidFill>
                  </a:tcPr>
                </a:tc>
                <a:tc>
                  <a:txBody>
                    <a:bodyPr/>
                    <a:lstStyle/>
                    <a:p>
                      <a:pPr>
                        <a:defRPr sz="1400" b="1">
                          <a:solidFill>
                            <a:srgbClr val="58A6FF"/>
                          </a:solidFill>
                        </a:defRPr>
                      </a:pPr>
                      <a:r>
                        <a:t>Sustained rate</a:t>
                      </a:r>
                    </a:p>
                  </a:txBody>
                  <a:tcPr marL="73152" marR="54864" marT="18288" marB="18288" anchor="ctr">
                    <a:solidFill>
                      <a:srgbClr val="1C222B"/>
                    </a:solidFill>
                  </a:tcPr>
                </a:tc>
                <a:tc>
                  <a:txBody>
                    <a:bodyPr/>
                    <a:lstStyle/>
                    <a:p>
                      <a:pPr>
                        <a:defRPr sz="1400" b="1">
                          <a:solidFill>
                            <a:srgbClr val="58A6FF"/>
                          </a:solidFill>
                        </a:defRPr>
                      </a:pPr>
                      <a:r>
                        <a:t>Flows/s</a:t>
                      </a:r>
                    </a:p>
                  </a:txBody>
                  <a:tcPr marL="73152" marR="54864" marT="18288" marB="18288" anchor="ctr">
                    <a:solidFill>
                      <a:srgbClr val="1C222B"/>
                    </a:solidFill>
                  </a:tcPr>
                </a:tc>
              </a:tr>
              <a:tr h="310896">
                <a:tc>
                  <a:txBody>
                    <a:bodyPr/>
                    <a:lstStyle/>
                    <a:p>
                      <a:pPr>
                        <a:defRPr sz="1400" b="0">
                          <a:solidFill>
                            <a:srgbClr val="E6EDF3"/>
                          </a:solidFill>
                        </a:defRPr>
                      </a:pPr>
                      <a:r>
                        <a:t>Rules only (dpkt)</a:t>
                      </a:r>
                    </a:p>
                  </a:txBody>
                  <a:tcPr marL="73152" marR="54864" marT="18288" marB="18288" anchor="ctr">
                    <a:solidFill>
                      <a:srgbClr val="161B22"/>
                    </a:solidFill>
                  </a:tcPr>
                </a:tc>
                <a:tc>
                  <a:txBody>
                    <a:bodyPr/>
                    <a:lstStyle/>
                    <a:p>
                      <a:pPr>
                        <a:defRPr sz="1400" b="0">
                          <a:solidFill>
                            <a:srgbClr val="E6EDF3"/>
                          </a:solidFill>
                        </a:defRPr>
                      </a:pPr>
                      <a:r>
                        <a:t>≈ 48,600 – 50,400</a:t>
                      </a:r>
                    </a:p>
                  </a:txBody>
                  <a:tcPr marL="73152" marR="54864" marT="18288" marB="18288" anchor="ctr">
                    <a:solidFill>
                      <a:srgbClr val="161B22"/>
                    </a:solidFill>
                  </a:tcPr>
                </a:tc>
                <a:tc>
                  <a:txBody>
                    <a:bodyPr/>
                    <a:lstStyle/>
                    <a:p>
                      <a:pPr>
                        <a:defRPr sz="1400" b="0">
                          <a:solidFill>
                            <a:srgbClr val="E6EDF3"/>
                          </a:solidFill>
                        </a:defRPr>
                      </a:pPr>
                      <a:r>
                        <a:t>≈ 240 Mbps</a:t>
                      </a:r>
                    </a:p>
                  </a:txBody>
                  <a:tcPr marL="73152" marR="54864" marT="18288" marB="18288" anchor="ctr">
                    <a:solidFill>
                      <a:srgbClr val="161B22"/>
                    </a:solidFill>
                  </a:tcPr>
                </a:tc>
                <a:tc>
                  <a:txBody>
                    <a:bodyPr/>
                    <a:lstStyle/>
                    <a:p>
                      <a:pPr>
                        <a:defRPr sz="1400" b="0">
                          <a:solidFill>
                            <a:srgbClr val="E6EDF3"/>
                          </a:solidFill>
                        </a:defRPr>
                      </a:pPr>
                      <a:r>
                        <a:t>≈ 19,200 – 20,300</a:t>
                      </a:r>
                    </a:p>
                  </a:txBody>
                  <a:tcPr marL="73152" marR="54864" marT="18288" marB="18288" anchor="ctr">
                    <a:solidFill>
                      <a:srgbClr val="161B22"/>
                    </a:solidFill>
                  </a:tcPr>
                </a:tc>
              </a:tr>
              <a:tr h="310896">
                <a:tc>
                  <a:txBody>
                    <a:bodyPr/>
                    <a:lstStyle/>
                    <a:p>
                      <a:pPr>
                        <a:defRPr sz="1400" b="0">
                          <a:solidFill>
                            <a:srgbClr val="E6EDF3"/>
                          </a:solidFill>
                        </a:defRPr>
                      </a:pPr>
                      <a:r>
                        <a:t>With ML tier (LightGBM)</a:t>
                      </a:r>
                    </a:p>
                  </a:txBody>
                  <a:tcPr marL="73152" marR="54864" marT="18288" marB="18288" anchor="ctr">
                    <a:solidFill>
                      <a:srgbClr val="161B22"/>
                    </a:solidFill>
                  </a:tcPr>
                </a:tc>
                <a:tc>
                  <a:txBody>
                    <a:bodyPr/>
                    <a:lstStyle/>
                    <a:p>
                      <a:pPr>
                        <a:defRPr sz="1400" b="0">
                          <a:solidFill>
                            <a:srgbClr val="E6EDF3"/>
                          </a:solidFill>
                        </a:defRPr>
                      </a:pPr>
                      <a:r>
                        <a:t>≈ 24,000 – 31,000</a:t>
                      </a:r>
                    </a:p>
                  </a:txBody>
                  <a:tcPr marL="73152" marR="54864" marT="18288" marB="18288" anchor="ctr">
                    <a:solidFill>
                      <a:srgbClr val="161B22"/>
                    </a:solidFill>
                  </a:tcPr>
                </a:tc>
                <a:tc>
                  <a:txBody>
                    <a:bodyPr/>
                    <a:lstStyle/>
                    <a:p>
                      <a:pPr>
                        <a:defRPr sz="1400" b="0">
                          <a:solidFill>
                            <a:srgbClr val="E6EDF3"/>
                          </a:solidFill>
                        </a:defRPr>
                      </a:pPr>
                      <a:r>
                        <a:t>≈ 120 – 155 Mbps</a:t>
                      </a:r>
                    </a:p>
                  </a:txBody>
                  <a:tcPr marL="73152" marR="54864" marT="18288" marB="18288" anchor="ctr">
                    <a:solidFill>
                      <a:srgbClr val="161B22"/>
                    </a:solidFill>
                  </a:tcPr>
                </a:tc>
                <a:tc>
                  <a:txBody>
                    <a:bodyPr/>
                    <a:lstStyle/>
                    <a:p>
                      <a:pPr>
                        <a:defRPr sz="1400" b="0">
                          <a:solidFill>
                            <a:srgbClr val="E6EDF3"/>
                          </a:solidFill>
                        </a:defRPr>
                      </a:pPr>
                      <a:r>
                        <a:t>≈ 9,700 – 11,800</a:t>
                      </a:r>
                    </a:p>
                  </a:txBody>
                  <a:tcPr marL="73152" marR="54864" marT="18288" marB="18288" anchor="ctr">
                    <a:solidFill>
                      <a:srgbClr val="161B22"/>
                    </a:solidFill>
                  </a:tcPr>
                </a:tc>
              </a:tr>
            </a:tbl>
          </a:graphicData>
        </a:graphic>
      </p:graphicFrame>
      <p:sp>
        <p:nvSpPr>
          <p:cNvPr id="5" name="TextBox 4"/>
          <p:cNvSpPr txBox="1"/>
          <p:nvPr/>
        </p:nvSpPr>
        <p:spPr>
          <a:xfrm>
            <a:off x="502920" y="2926080"/>
            <a:ext cx="11185855" cy="3611880"/>
          </a:xfrm>
          <a:prstGeom prst="rect">
            <a:avLst/>
          </a:prstGeom>
          <a:noFill/>
        </p:spPr>
        <p:txBody>
          <a:bodyPr wrap="square">
            <a:spAutoFit/>
          </a:bodyPr>
          <a:lstStyle/>
          <a:p>
            <a:pPr>
              <a:spcAft>
                <a:spcPts val="600"/>
              </a:spcAft>
              <a:defRPr sz="1500">
                <a:solidFill>
                  <a:srgbClr val="E6EDF3"/>
                </a:solidFill>
              </a:defRPr>
            </a:pPr>
            <a:r>
              <a:t>This capture: 14,049 packets, 8,622,217 bytes, 598.8 s, mean packet 613.7 B, 5,225 distinct flows (4,617 SYN-only, 720 DNS, 7,107 TLS).</a:t>
            </a:r>
          </a:p>
          <a:p>
            <a:pPr>
              <a:spcAft>
                <a:spcPts val="600"/>
              </a:spcAft>
              <a:defRPr sz="1500">
                <a:solidFill>
                  <a:srgbClr val="9DA5B0"/>
                </a:solidFill>
              </a:defRPr>
            </a:pPr>
            <a:r>
              <a:t>The ML tier is quoted as a range on purpose: it varies with model warm-up and cache state, so a single false-precision number would not be reproducible.</a:t>
            </a:r>
          </a:p>
          <a:p>
            <a:pPr>
              <a:spcAft>
                <a:spcPts val="600"/>
              </a:spcAft>
              <a:defRPr sz="1500">
                <a:solidFill>
                  <a:srgbClr val="E6EDF3"/>
                </a:solidFill>
              </a:defRPr>
            </a:pPr>
            <a:r>
              <a:t>For a SYN flood the binding number is packets/s, not Mbps — small packets are cheaper per byte. pkt/s is the honest headline; Mbps is the translation the statement asks for, using this capture’s mean packet size.</a:t>
            </a:r>
          </a:p>
        </p:txBody>
      </p:sp>
      <p:sp>
        <p:nvSpPr>
          <p:cNvPr id="6" name="Rounded Rectangle 5"/>
          <p:cNvSpPr/>
          <p:nvPr/>
        </p:nvSpPr>
        <p:spPr>
          <a:xfrm>
            <a:off x="502920" y="548640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77840"/>
            <a:ext cx="10820095" cy="685800"/>
          </a:xfrm>
          <a:prstGeom prst="rect">
            <a:avLst/>
          </a:prstGeom>
          <a:noFill/>
        </p:spPr>
        <p:txBody>
          <a:bodyPr wrap="square">
            <a:spAutoFit/>
          </a:bodyPr>
          <a:lstStyle/>
          <a:p>
            <a:pPr>
              <a:defRPr sz="1500" i="1">
                <a:solidFill>
                  <a:srgbClr val="3FB950"/>
                </a:solidFill>
              </a:defRPr>
            </a:pPr>
            <a:r>
              <a:t>“About 50,000 packets per second — roughly 240 Mbps sustained — on a single CPU core, in pure Python with no C extension and no GPU. With the ML tier scoring every closed flow it drops to roughly 24 to 31 thousand.”</a:t>
            </a:r>
          </a:p>
        </p:txBody>
      </p:sp>
      <p:sp>
        <p:nvSpPr>
          <p:cNvPr id="8" name="TextBox 7"/>
          <p:cNvSpPr txBox="1"/>
          <p:nvPr/>
        </p:nvSpPr>
        <p:spPr>
          <a:xfrm>
            <a:off x="502920" y="6400800"/>
            <a:ext cx="11185855" cy="365760"/>
          </a:xfrm>
          <a:prstGeom prst="rect">
            <a:avLst/>
          </a:prstGeom>
          <a:noFill/>
        </p:spPr>
        <p:txBody>
          <a:bodyPr wrap="none">
            <a:spAutoFit/>
          </a:bodyPr>
          <a:lstStyle/>
          <a:p>
            <a:pPr>
              <a:defRPr sz="1100">
                <a:solidFill>
                  <a:srgbClr val="D29922"/>
                </a:solidFill>
              </a:defRPr>
            </a:pPr>
            <a:r>
              <a:t>Do not lead with the real-time factor: the capture is sparse (≈ 23 pkt/s ≈ 0.11 Mbps), so “~2,000× real-time” is one measurement restated. Quote it only as a repeatability claim.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Coverage and false positives — the measured answer, not the headline you want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6/6 PS threat classes covered. The rules tier emits 12 distinct threat classes (13 with the ML tier): 46 alerts on the default capture (68 with ML), plus 20 benign periodic events suppressed by the allowlist.</a:t>
            </a:r>
          </a:p>
          <a:p>
            <a:pPr>
              <a:spcAft>
                <a:spcPts val="600"/>
              </a:spcAft>
              <a:defRPr sz="1400">
                <a:solidFill>
                  <a:srgbClr val="3FB950"/>
                </a:solidFill>
              </a:defRPr>
            </a:pPr>
            <a:r>
              <a:t>On the default capture all 46 rules-tier alerts land on hosts the generator designates as attackers — zero FPs.</a:t>
            </a:r>
          </a:p>
          <a:p>
            <a:pPr>
              <a:spcAft>
                <a:spcPts val="600"/>
              </a:spcAft>
              <a:defRPr sz="1400">
                <a:solidFill>
                  <a:srgbClr val="D29922"/>
                </a:solidFill>
              </a:defRPr>
            </a:pPr>
            <a:r>
              <a:t>But we built a deliberate FP-pressure variant (MESSY=1) that injects benign patterns a real network has: first-time cloud backups, low-jitter IoT telemetry, CDN-style long subdomain labels.</a:t>
            </a:r>
          </a:p>
          <a:p>
            <a:pPr lvl="1">
              <a:spcAft>
                <a:spcPts val="600"/>
              </a:spcAft>
              <a:defRPr sz="1200">
                <a:solidFill>
                  <a:srgbClr val="E6EDF3"/>
                </a:solidFill>
              </a:defRPr>
            </a:pPr>
            <a:r>
              <a:t>On it the rules tier emits ONE TRUE CRITICAL FP — data_exfiltration at 0.95 on the benign backup host — because “large sustained upload to a never-before-seen destination” is exactly what a backup is.</a:t>
            </a:r>
          </a:p>
          <a:p>
            <a:pPr lvl="1">
              <a:spcAft>
                <a:spcPts val="600"/>
              </a:spcAft>
              <a:defRPr sz="1200">
                <a:solidFill>
                  <a:srgbClr val="D29922"/>
                </a:solidFill>
              </a:defRPr>
            </a:pPr>
            <a:r>
              <a:t>That is the honest cost of a one-way exfil detector that cannot ask “was that authorised?”. Never say “zero false positives” without the FP-pressure qualifier.</a:t>
            </a:r>
          </a:p>
          <a:p>
            <a:pPr>
              <a:spcAft>
                <a:spcPts val="600"/>
              </a:spcAft>
              <a:defRPr sz="1400">
                <a:solidFill>
                  <a:srgbClr val="9DA5B0"/>
                </a:solidFill>
              </a:defRPr>
            </a:pPr>
            <a:r>
              <a:t>The allowlist count is not a result either: ALLOWLIST is operator-curated against the same telemetry IPs the generator emits, so “zero FPs after allowlisting” is partly circular.</a:t>
            </a:r>
          </a:p>
          <a:p>
            <a:pPr>
              <a:spcAft>
                <a:spcPts val="600"/>
              </a:spcAft>
              <a:defRPr sz="1400">
                <a:solidFill>
                  <a:srgbClr val="D29922"/>
                </a:solidFill>
              </a:defRPr>
            </a:pPr>
            <a:r>
              <a:t>The ML tier breaks under the same pressure: 74 ml_flow_suspicious alerts at confidence 1.0, almost all on benign hosts. This is the measured reason the rules tier stays primary and the ML tier is quorum-gated.</a:t>
            </a:r>
          </a:p>
          <a:p>
            <a:pPr>
              <a:spcAft>
                <a:spcPts val="600"/>
              </a:spcAft>
              <a:defRPr sz="1400">
                <a:solidFill>
                  <a:srgbClr val="E6EDF3"/>
                </a:solidFill>
              </a:defRPr>
            </a:pPr>
            <a:r>
              <a:t>Maturity signal worth quoting: per-flow ML on bare SYN packets produced 3,021 alerts; excluding bare SYNs at the tier boundary brought it to 20, all on true attack hosts.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models — measured, including the negative results</a:t>
            </a:r>
          </a:p>
          <a:p>
            <a:pPr>
              <a:defRPr sz="1400">
                <a:solidFill>
                  <a:srgbClr val="9DA5B0"/>
                </a:solidFill>
              </a:defRPr>
            </a:pPr>
            <a:r>
              <a:t>Temporal split, no leakage: t &lt; 500 s train / t ≥ 500 s test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50">
                <a:solidFill>
                  <a:srgbClr val="E6EDF3"/>
                </a:solidFill>
              </a:defRPr>
            </a:pPr>
            <a:r>
              <a:t>Flow model (LightGBM): benign recall 100% at 0 FP; malicious recall 85.7%, with the 10 misses documented as generator label noise — the model is right, the generator-derived labels are wrong on benign DNS from an attack host.</a:t>
            </a:r>
          </a:p>
          <a:p>
            <a:pPr>
              <a:spcAft>
                <a:spcPts val="600"/>
              </a:spcAft>
              <a:defRPr sz="1450">
                <a:solidFill>
                  <a:srgbClr val="58A6FF"/>
                </a:solidFill>
              </a:defRPr>
            </a:pPr>
            <a:r>
              <a:t>Category 5–7 (models567/eval.json) — four of six work:</a:t>
            </a:r>
          </a:p>
          <a:p>
            <a:pPr lvl="1">
              <a:spcAft>
                <a:spcPts val="600"/>
              </a:spcAft>
              <a:defRPr sz="1250">
                <a:solidFill>
                  <a:srgbClr val="3FB950"/>
                </a:solidFill>
              </a:defRPr>
            </a:pPr>
            <a:r>
              <a:t>encrypted_xgb, sequence_cnn, scan_rf and exfil_xgb all reach recall 1.000 at 0 benign FP on the temporal holdout (t ≥ 390 s).</a:t>
            </a:r>
          </a:p>
          <a:p>
            <a:pPr lvl="1">
              <a:spcAft>
                <a:spcPts val="600"/>
              </a:spcAft>
              <a:defRPr sz="1250">
                <a:solidFill>
                  <a:srgbClr val="D29922"/>
                </a:solidFill>
              </a:defRPr>
            </a:pPr>
            <a:r>
              <a:t>The other two are the IsolationForest pair, and they are a MEASURED NEGATIVE RESULT, not a tuning issue: they detect every malicious row, but only at thresholds that also fire on 2–6% of benign windows.</a:t>
            </a:r>
          </a:p>
          <a:p>
            <a:pPr lvl="1">
              <a:spcAft>
                <a:spcPts val="600"/>
              </a:spcAft>
              <a:defRPr sz="1250">
                <a:solidFill>
                  <a:srgbClr val="E6EDF3"/>
                </a:solidFill>
              </a:defRPr>
            </a:pPr>
            <a:r>
              <a:t>No operating point is both sensitive and quiet, so the selector ships the quiet point and reports recall 0.000 rather than hiding a noisy one.</a:t>
            </a:r>
          </a:p>
          <a:p>
            <a:pPr>
              <a:spcAft>
                <a:spcPts val="600"/>
              </a:spcAft>
              <a:defRPr sz="1450">
                <a:solidFill>
                  <a:srgbClr val="E6EDF3"/>
                </a:solidFill>
              </a:defRPr>
            </a:pPr>
            <a:r>
              <a:t>The more interesting half: scan_rf and exfil_xgb used to read 0.000 too, and that was not a model failure — the split placed every malicious scan and exfil row in training, so the holdout had nothing to score. Once attack bursts landed on both sides of the split, the same architectures scored perfectly. “Unmeasurable” and “broken” are different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DGA character CNN — the strongest model result in the repo</a:t>
            </a:r>
          </a:p>
          <a:p>
            <a:pPr>
              <a:defRPr sz="1400">
                <a:solidFill>
                  <a:srgbClr val="9DA5B0"/>
                </a:solidFill>
              </a:defRPr>
            </a:pPr>
            <a:r>
              <a:t>numpy only, 4,930 parameters, no torch, no GPU</a:t>
            </a:r>
          </a:p>
        </p:txBody>
      </p:sp>
      <p:graphicFrame>
        <p:nvGraphicFramePr>
          <p:cNvPr id="4" name="Table 3"/>
          <p:cNvGraphicFramePr>
            <a:graphicFrameLocks noGrp="1"/>
          </p:cNvGraphicFramePr>
          <p:nvPr/>
        </p:nvGraphicFramePr>
        <p:xfrm>
          <a:off x="502920" y="1371600"/>
          <a:ext cx="5852158" cy="1243584"/>
        </p:xfrm>
        <a:graphic>
          <a:graphicData uri="http://schemas.openxmlformats.org/drawingml/2006/table">
            <a:tbl>
              <a:tblPr firstRow="1" bandRow="1">
                <a:tableStyleId>{5C22544A-7EE6-4342-B048-85BDC9FD1C3A}</a:tableStyleId>
              </a:tblPr>
              <a:tblGrid>
                <a:gridCol w="3430576"/>
                <a:gridCol w="1210791"/>
                <a:gridCol w="1210791"/>
              </a:tblGrid>
              <a:tr h="310896">
                <a:tc>
                  <a:txBody>
                    <a:bodyPr/>
                    <a:lstStyle/>
                    <a:p>
                      <a:pPr>
                        <a:defRPr sz="1300" b="1">
                          <a:solidFill>
                            <a:srgbClr val="58A6FF"/>
                          </a:solidFill>
                        </a:defRPr>
                      </a:pPr>
                      <a:r>
                        <a:t>Held-out family</a:t>
                      </a:r>
                    </a:p>
                  </a:txBody>
                  <a:tcPr marL="73152" marR="54864" marT="18288" marB="18288" anchor="ctr">
                    <a:solidFill>
                      <a:srgbClr val="1C222B"/>
                    </a:solidFill>
                  </a:tcPr>
                </a:tc>
                <a:tc>
                  <a:txBody>
                    <a:bodyPr/>
                    <a:lstStyle/>
                    <a:p>
                      <a:pPr>
                        <a:defRPr sz="1300" b="1">
                          <a:solidFill>
                            <a:srgbClr val="58A6FF"/>
                          </a:solidFill>
                        </a:defRPr>
                      </a:pPr>
                      <a:r>
                        <a:t>CNN recall</a:t>
                      </a:r>
                    </a:p>
                  </a:txBody>
                  <a:tcPr marL="73152" marR="54864" marT="18288" marB="18288" anchor="ctr">
                    <a:solidFill>
                      <a:srgbClr val="1C222B"/>
                    </a:solidFill>
                  </a:tcPr>
                </a:tc>
                <a:tc>
                  <a:txBody>
                    <a:bodyPr/>
                    <a:lstStyle/>
                    <a:p>
                      <a:pPr>
                        <a:defRPr sz="1300" b="1">
                          <a:solidFill>
                            <a:srgbClr val="58A6FF"/>
                          </a:solidFill>
                        </a:defRPr>
                      </a:pPr>
                      <a:r>
                        <a:t>Rule recall</a:t>
                      </a:r>
                    </a:p>
                  </a:txBody>
                  <a:tcPr marL="73152" marR="54864" marT="18288" marB="18288" anchor="ctr">
                    <a:solidFill>
                      <a:srgbClr val="1C222B"/>
                    </a:solidFill>
                  </a:tcPr>
                </a:tc>
              </a:tr>
              <a:tr h="310896">
                <a:tc>
                  <a:txBody>
                    <a:bodyPr/>
                    <a:lstStyle/>
                    <a:p>
                      <a:pPr>
                        <a:defRPr sz="1300" b="0">
                          <a:solidFill>
                            <a:srgbClr val="E6EDF3"/>
                          </a:solidFill>
                        </a:defRPr>
                      </a:pPr>
                      <a:r>
                        <a:t>hex_like (same kind, unseen family)</a:t>
                      </a:r>
                    </a:p>
                  </a:txBody>
                  <a:tcPr marL="73152" marR="54864" marT="18288" marB="18288" anchor="ctr">
                    <a:solidFill>
                      <a:srgbClr val="161B22"/>
                    </a:solidFill>
                  </a:tcPr>
                </a:tc>
                <a:tc>
                  <a:txBody>
                    <a:bodyPr/>
                    <a:lstStyle/>
                    <a:p>
                      <a:pPr>
                        <a:defRPr sz="1300" b="0">
                          <a:solidFill>
                            <a:srgbClr val="E6EDF3"/>
                          </a:solidFill>
                        </a:defRPr>
                      </a:pPr>
                      <a:r>
                        <a:t>1.000</a:t>
                      </a:r>
                    </a:p>
                  </a:txBody>
                  <a:tcPr marL="73152" marR="54864" marT="18288" marB="18288" anchor="ctr">
                    <a:solidFill>
                      <a:srgbClr val="161B22"/>
                    </a:solidFill>
                  </a:tcPr>
                </a:tc>
                <a:tc>
                  <a:txBody>
                    <a:bodyPr/>
                    <a:lstStyle/>
                    <a:p>
                      <a:pPr>
                        <a:defRPr sz="1300" b="0">
                          <a:solidFill>
                            <a:srgbClr val="E6EDF3"/>
                          </a:solidFill>
                        </a:defRPr>
                      </a:pPr>
                      <a:r>
                        <a:t>0.473</a:t>
                      </a:r>
                    </a:p>
                  </a:txBody>
                  <a:tcPr marL="73152" marR="54864" marT="18288" marB="18288" anchor="ctr">
                    <a:solidFill>
                      <a:srgbClr val="161B22"/>
                    </a:solidFill>
                  </a:tcPr>
                </a:tc>
              </a:tr>
              <a:tr h="310896">
                <a:tc>
                  <a:txBody>
                    <a:bodyPr/>
                    <a:lstStyle/>
                    <a:p>
                      <a:pPr>
                        <a:defRPr sz="1300" b="0">
                          <a:solidFill>
                            <a:srgbClr val="E6EDF3"/>
                          </a:solidFill>
                        </a:defRPr>
                      </a:pPr>
                      <a:r>
                        <a:t>dictionary_pair (different kind)</a:t>
                      </a:r>
                    </a:p>
                  </a:txBody>
                  <a:tcPr marL="73152" marR="54864" marT="18288" marB="18288" anchor="ctr">
                    <a:solidFill>
                      <a:srgbClr val="161B22"/>
                    </a:solidFill>
                  </a:tcPr>
                </a:tc>
                <a:tc>
                  <a:txBody>
                    <a:bodyPr/>
                    <a:lstStyle/>
                    <a:p>
                      <a:pPr>
                        <a:defRPr sz="1300" b="0">
                          <a:solidFill>
                            <a:srgbClr val="E6EDF3"/>
                          </a:solidFill>
                        </a:defRPr>
                      </a:pPr>
                      <a:r>
                        <a:t>0.007</a:t>
                      </a:r>
                    </a:p>
                  </a:txBody>
                  <a:tcPr marL="73152" marR="54864" marT="18288" marB="18288" anchor="ctr">
                    <a:solidFill>
                      <a:srgbClr val="161B22"/>
                    </a:solidFill>
                  </a:tcPr>
                </a:tc>
                <a:tc>
                  <a:txBody>
                    <a:bodyPr/>
                    <a:lstStyle/>
                    <a:p>
                      <a:pPr>
                        <a:defRPr sz="1300" b="0">
                          <a:solidFill>
                            <a:srgbClr val="E6EDF3"/>
                          </a:solidFill>
                        </a:defRPr>
                      </a:pPr>
                      <a:r>
                        <a:t>0.004</a:t>
                      </a:r>
                    </a:p>
                  </a:txBody>
                  <a:tcPr marL="73152" marR="54864" marT="18288" marB="18288" anchor="ctr">
                    <a:solidFill>
                      <a:srgbClr val="161B22"/>
                    </a:solidFill>
                  </a:tcPr>
                </a:tc>
              </a:tr>
              <a:tr h="310896">
                <a:tc>
                  <a:txBody>
                    <a:bodyPr/>
                    <a:lstStyle/>
                    <a:p>
                      <a:pPr>
                        <a:defRPr sz="1300" b="0">
                          <a:solidFill>
                            <a:srgbClr val="E6EDF3"/>
                          </a:solidFill>
                        </a:defRPr>
                      </a:pPr>
                      <a:r>
                        <a:t>benign FP rate</a:t>
                      </a:r>
                    </a:p>
                  </a:txBody>
                  <a:tcPr marL="73152" marR="54864" marT="18288" marB="18288" anchor="ctr">
                    <a:solidFill>
                      <a:srgbClr val="161B22"/>
                    </a:solidFill>
                  </a:tcPr>
                </a:tc>
                <a:tc>
                  <a:txBody>
                    <a:bodyPr/>
                    <a:lstStyle/>
                    <a:p>
                      <a:pPr>
                        <a:defRPr sz="1300" b="0">
                          <a:solidFill>
                            <a:srgbClr val="E6EDF3"/>
                          </a:solidFill>
                        </a:defRPr>
                      </a:pPr>
                      <a:r>
                        <a:t>0.001</a:t>
                      </a:r>
                    </a:p>
                  </a:txBody>
                  <a:tcPr marL="73152" marR="54864" marT="18288" marB="18288" anchor="ctr">
                    <a:solidFill>
                      <a:srgbClr val="161B22"/>
                    </a:solidFill>
                  </a:tcPr>
                </a:tc>
                <a:tc>
                  <a:txBody>
                    <a:bodyPr/>
                    <a:lstStyle/>
                    <a:p>
                      <a:pPr>
                        <a:defRPr sz="1300" b="0">
                          <a:solidFill>
                            <a:srgbClr val="E6EDF3"/>
                          </a:solidFill>
                        </a:defRPr>
                      </a:pPr>
                      <a:r>
                        <a:t>0.003</a:t>
                      </a:r>
                    </a:p>
                  </a:txBody>
                  <a:tcPr marL="73152" marR="54864" marT="18288" marB="18288" anchor="ctr">
                    <a:solidFill>
                      <a:srgbClr val="161B22"/>
                    </a:solidFill>
                  </a:tcPr>
                </a:tc>
              </a:tr>
            </a:tbl>
          </a:graphicData>
        </a:graphic>
      </p:graphicFrame>
      <p:sp>
        <p:nvSpPr>
          <p:cNvPr id="5" name="TextBox 4"/>
          <p:cNvSpPr txBox="1"/>
          <p:nvPr/>
        </p:nvSpPr>
        <p:spPr>
          <a:xfrm>
            <a:off x="6675120" y="1371600"/>
            <a:ext cx="5" cy="5166360"/>
          </a:xfrm>
          <a:prstGeom prst="rect">
            <a:avLst/>
          </a:prstGeom>
          <a:noFill/>
        </p:spPr>
        <p:txBody>
          <a:bodyPr wrap="square">
            <a:spAutoFit/>
          </a:bodyPr>
          <a:lstStyle/>
          <a:p>
            <a:pPr>
              <a:spcAft>
                <a:spcPts val="600"/>
              </a:spcAft>
              <a:defRPr sz="1350">
                <a:solidFill>
                  <a:srgbClr val="9DA5B0"/>
                </a:solidFill>
              </a:defRPr>
            </a:pPr>
            <a:r>
              <a:t>Family-held-out: one family of each kind is held out entirely.</a:t>
            </a:r>
          </a:p>
          <a:p>
            <a:pPr>
              <a:spcAft>
                <a:spcPts val="600"/>
              </a:spcAft>
              <a:defRPr sz="1350">
                <a:solidFill>
                  <a:srgbClr val="E6EDF3"/>
                </a:solidFill>
              </a:defRPr>
            </a:pPr>
            <a:r>
              <a:t>On the demo capture the CNN caught a real DGA query the rules called benign — 8yuxczaumapqpp, entropy 3.182 against a 3.3 gate.</a:t>
            </a:r>
          </a:p>
          <a:p>
            <a:pPr>
              <a:spcAft>
                <a:spcPts val="600"/>
              </a:spcAft>
              <a:defRPr sz="1350">
                <a:solidFill>
                  <a:srgbClr val="E6EDF3"/>
                </a:solidFill>
              </a:defRPr>
            </a:pPr>
            <a:r>
              <a:t>The dictionary row is presented too: morphology alone cannot settle dictionary DGA, which is why the CNN is a quorum-gated confirmer, never critical.</a:t>
            </a:r>
          </a:p>
          <a:p>
            <a:pPr>
              <a:spcAft>
                <a:spcPts val="600"/>
              </a:spcAft>
              <a:defRPr sz="1350">
                <a:solidFill>
                  <a:srgbClr val="9DA5B0"/>
                </a:solidFill>
              </a:defRPr>
            </a:pPr>
            <a:r>
              <a:t>Its analytic gradients match finite differences to 7e-09 — a real conv1d, with hand-written backprop, not a framework call.</a:t>
            </a:r>
          </a:p>
        </p:txBody>
      </p:sp>
      <p:sp>
        <p:nvSpPr>
          <p:cNvPr id="6" name="Rounded Rectangle 5"/>
          <p:cNvSpPr/>
          <p:nvPr/>
        </p:nvSpPr>
        <p:spPr>
          <a:xfrm>
            <a:off x="502920" y="42062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297679"/>
            <a:ext cx="10820095" cy="685800"/>
          </a:xfrm>
          <a:prstGeom prst="rect">
            <a:avLst/>
          </a:prstGeom>
          <a:noFill/>
        </p:spPr>
        <p:txBody>
          <a:bodyPr wrap="square">
            <a:spAutoFit/>
          </a:bodyPr>
          <a:lstStyle/>
          <a:p>
            <a:pPr>
              <a:defRPr sz="1500" i="1">
                <a:solidFill>
                  <a:srgbClr val="3FB950"/>
                </a:solidFill>
              </a:defRPr>
            </a:pPr>
            <a:r>
              <a:t>“On our demo capture the CNN caught a real DGA query the rules called benign — entropy 3.182 against a 3.3 gate. That miss is caused by the exact short-string entropy bias we documented before we built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Scored as shipped on a real external corpus</a:t>
            </a:r>
          </a:p>
          <a:p>
            <a:pPr>
              <a:defRPr sz="1400">
                <a:solidFill>
                  <a:srgbClr val="9DA5B0"/>
                </a:solidFill>
              </a:defRPr>
            </a:pPr>
            <a:r>
              <a:t>andrewaeva/DGA · 694,173 real DGA domains (8 families) vs 1,000,000 Alexa domains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58A6FF"/>
                </a:solidFill>
              </a:defRPr>
            </a:pPr>
            <a:r>
              <a:t>The rules have a blind spot we predicted:</a:t>
            </a:r>
          </a:p>
          <a:p>
            <a:pPr lvl="1">
              <a:spcAft>
                <a:spcPts val="600"/>
              </a:spcAft>
              <a:defRPr sz="1200">
                <a:solidFill>
                  <a:srgbClr val="E6EDF3"/>
                </a:solidFill>
              </a:defRPr>
            </a:pPr>
            <a:r>
              <a:t>the entropy gate’s 10-character floor scores 0.019 / 0.000 TPR on conficker and pushdo (median labels 8 chars); the CNN, which has no floor, scores 0.886 / 0.446 on exactly those families.</a:t>
            </a:r>
          </a:p>
          <a:p>
            <a:pPr>
              <a:spcAft>
                <a:spcPts val="600"/>
              </a:spcAft>
              <a:defRPr sz="1400">
                <a:solidFill>
                  <a:srgbClr val="D29922"/>
                </a:solidFill>
              </a:defRPr>
            </a:pPr>
            <a:r>
              <a:t>The CNN alone is not deployable:</a:t>
            </a:r>
          </a:p>
          <a:p>
            <a:pPr lvl="1">
              <a:spcAft>
                <a:spcPts val="600"/>
              </a:spcAft>
              <a:defRPr sz="1200">
                <a:solidFill>
                  <a:srgbClr val="E6EDF3"/>
                </a:solidFill>
              </a:defRPr>
            </a:pPr>
            <a:r>
              <a:t>its per-string FP rate on 1M real benign domains is 16.5% — real hostnames include ccmhw, 7ri-rj, 059455, which no morphology model separates from DGA. That is the measured reason the quorum exists.</a:t>
            </a:r>
          </a:p>
          <a:p>
            <a:pPr>
              <a:spcAft>
                <a:spcPts val="600"/>
              </a:spcAft>
              <a:defRPr sz="1400">
                <a:solidFill>
                  <a:srgbClr val="58A6FF"/>
                </a:solidFill>
              </a:defRPr>
            </a:pPr>
            <a:r>
              <a:t>The shipped quorum is a measured constant, not a guess:</a:t>
            </a:r>
          </a:p>
          <a:p>
            <a:pPr lvl="1">
              <a:spcAft>
                <a:spcPts val="600"/>
              </a:spcAft>
              <a:defRPr sz="1200">
                <a:solidFill>
                  <a:srgbClr val="E6EDF3"/>
                </a:solidFill>
              </a:defRPr>
            </a:pPr>
            <a:r>
              <a:t>swept against 1M benign queries: 17.3 alerts/hour on a purely benign host at k=2, 0.46 at k=4 with 7 of 8 families still detected.</a:t>
            </a:r>
          </a:p>
          <a:p>
            <a:pPr lvl="1">
              <a:spcAft>
                <a:spcPts val="600"/>
              </a:spcAft>
              <a:defRPr sz="1200">
                <a:solidFill>
                  <a:srgbClr val="D29922"/>
                </a:solidFill>
              </a:defRPr>
            </a:pPr>
            <a:r>
              <a:t>The honest cost, said out loud: at k=4 the demo capture no longer shows a CNN-only alert — the sensor that cried wolf 17×/hour was worse than missing one label.</a:t>
            </a:r>
          </a:p>
          <a:p>
            <a:pPr>
              <a:spcAft>
                <a:spcPts val="600"/>
              </a:spcAft>
              <a:defRPr sz="1400">
                <a:solidFill>
                  <a:srgbClr val="9DA5B0"/>
                </a:solidFill>
              </a:defRPr>
            </a:pPr>
            <a:r>
              <a:t>Also owned: rovnix and matsnu are not separated per-string (0.226 / 0.257) and no CNN threshold fixes it; mixed-host precision at 5% DGA prevalence is 0.171. The layered policy is what keeps the benign case quiet, not the CNN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Validated against real malware — IoT-23</a:t>
            </a:r>
          </a:p>
          <a:p>
            <a:pPr>
              <a:defRPr sz="1400">
                <a:solidFill>
                  <a:srgbClr val="9DA5B0"/>
                </a:solidFill>
              </a:defRPr>
            </a:pPr>
            <a:r>
              <a:t>CTU Stratosphere Laboratory, 2020, CC-BY-4.0 · shipped detector, nothing retuned</a:t>
            </a:r>
          </a:p>
        </p:txBody>
      </p:sp>
      <p:graphicFrame>
        <p:nvGraphicFramePr>
          <p:cNvPr id="4" name="Table 3"/>
          <p:cNvGraphicFramePr>
            <a:graphicFrameLocks noGrp="1"/>
          </p:cNvGraphicFramePr>
          <p:nvPr/>
        </p:nvGraphicFramePr>
        <p:xfrm>
          <a:off x="502920" y="1371600"/>
          <a:ext cx="11155677" cy="1554480"/>
        </p:xfrm>
        <a:graphic>
          <a:graphicData uri="http://schemas.openxmlformats.org/drawingml/2006/table">
            <a:tbl>
              <a:tblPr firstRow="1" bandRow="1">
                <a:tableStyleId>{5C22544A-7EE6-4342-B048-85BDC9FD1C3A}</a:tableStyleId>
              </a:tblPr>
              <a:tblGrid>
                <a:gridCol w="1890793"/>
                <a:gridCol w="1418094"/>
                <a:gridCol w="1229015"/>
                <a:gridCol w="3781586"/>
                <a:gridCol w="2836189"/>
              </a:tblGrid>
              <a:tr h="310896">
                <a:tc>
                  <a:txBody>
                    <a:bodyPr/>
                    <a:lstStyle/>
                    <a:p>
                      <a:pPr>
                        <a:defRPr sz="1250" b="1">
                          <a:solidFill>
                            <a:srgbClr val="58A6FF"/>
                          </a:solidFill>
                        </a:defRPr>
                      </a:pPr>
                      <a:r>
                        <a:t>Scenario</a:t>
                      </a:r>
                    </a:p>
                  </a:txBody>
                  <a:tcPr marL="73152" marR="54864" marT="18288" marB="18288" anchor="ctr">
                    <a:solidFill>
                      <a:srgbClr val="1C222B"/>
                    </a:solidFill>
                  </a:tcPr>
                </a:tc>
                <a:tc>
                  <a:txBody>
                    <a:bodyPr/>
                    <a:lstStyle/>
                    <a:p>
                      <a:pPr>
                        <a:defRPr sz="1250" b="1">
                          <a:solidFill>
                            <a:srgbClr val="58A6FF"/>
                          </a:solidFill>
                        </a:defRPr>
                      </a:pPr>
                      <a:r>
                        <a:t>Malware</a:t>
                      </a:r>
                    </a:p>
                  </a:txBody>
                  <a:tcPr marL="73152" marR="54864" marT="18288" marB="18288" anchor="ctr">
                    <a:solidFill>
                      <a:srgbClr val="1C222B"/>
                    </a:solidFill>
                  </a:tcPr>
                </a:tc>
                <a:tc>
                  <a:txBody>
                    <a:bodyPr/>
                    <a:lstStyle/>
                    <a:p>
                      <a:pPr>
                        <a:defRPr sz="1250" b="1">
                          <a:solidFill>
                            <a:srgbClr val="58A6FF"/>
                          </a:solidFill>
                        </a:defRPr>
                      </a:pPr>
                      <a:r>
                        <a:t>Alerts</a:t>
                      </a:r>
                    </a:p>
                  </a:txBody>
                  <a:tcPr marL="73152" marR="54864" marT="18288" marB="18288" anchor="ctr">
                    <a:solidFill>
                      <a:srgbClr val="1C222B"/>
                    </a:solidFill>
                  </a:tcPr>
                </a:tc>
                <a:tc>
                  <a:txBody>
                    <a:bodyPr/>
                    <a:lstStyle/>
                    <a:p>
                      <a:pPr>
                        <a:defRPr sz="1250" b="1">
                          <a:solidFill>
                            <a:srgbClr val="58A6FF"/>
                          </a:solidFill>
                        </a:defRPr>
                      </a:pPr>
                      <a:r>
                        <a:t>Host recall</a:t>
                      </a:r>
                    </a:p>
                  </a:txBody>
                  <a:tcPr marL="73152" marR="54864" marT="18288" marB="18288" anchor="ctr">
                    <a:solidFill>
                      <a:srgbClr val="1C222B"/>
                    </a:solidFill>
                  </a:tcPr>
                </a:tc>
                <a:tc>
                  <a:txBody>
                    <a:bodyPr/>
                    <a:lstStyle/>
                    <a:p>
                      <a:pPr>
                        <a:defRPr sz="1250" b="1">
                          <a:solidFill>
                            <a:srgbClr val="58A6FF"/>
                          </a:solidFill>
                        </a:defRPr>
                      </a:pPr>
                      <a:r>
                        <a:t>Host precision</a:t>
                      </a:r>
                    </a:p>
                  </a:txBody>
                  <a:tcPr marL="73152" marR="54864" marT="18288" marB="18288" anchor="ctr">
                    <a:solidFill>
                      <a:srgbClr val="1C222B"/>
                    </a:solidFill>
                  </a:tcPr>
                </a:tc>
              </a:tr>
              <a:tr h="310896">
                <a:tc>
                  <a:txBody>
                    <a:bodyPr/>
                    <a:lstStyle/>
                    <a:p>
                      <a:pPr>
                        <a:defRPr sz="1250" b="0">
                          <a:solidFill>
                            <a:srgbClr val="E6EDF3"/>
                          </a:solidFill>
                        </a:defRPr>
                      </a:pPr>
                      <a:r>
                        <a:t>Capture-8-1</a:t>
                      </a:r>
                    </a:p>
                  </a:txBody>
                  <a:tcPr marL="73152" marR="54864" marT="18288" marB="18288" anchor="ctr">
                    <a:solidFill>
                      <a:srgbClr val="161B22"/>
                    </a:solidFill>
                  </a:tcPr>
                </a:tc>
                <a:tc>
                  <a:txBody>
                    <a:bodyPr/>
                    <a:lstStyle/>
                    <a:p>
                      <a:pPr>
                        <a:defRPr sz="1250" b="0">
                          <a:solidFill>
                            <a:srgbClr val="E6EDF3"/>
                          </a:solidFill>
                        </a:defRPr>
                      </a:pPr>
                      <a:r>
                        <a:t>Hakai</a:t>
                      </a:r>
                    </a:p>
                  </a:txBody>
                  <a:tcPr marL="73152" marR="54864" marT="18288" marB="18288" anchor="ctr">
                    <a:solidFill>
                      <a:srgbClr val="161B22"/>
                    </a:solidFill>
                  </a:tcPr>
                </a:tc>
                <a:tc>
                  <a:txBody>
                    <a:bodyPr/>
                    <a:lstStyle/>
                    <a:p>
                      <a:pPr>
                        <a:defRPr sz="1250" b="0">
                          <a:solidFill>
                            <a:srgbClr val="E6EDF3"/>
                          </a:solidFill>
                        </a:defRPr>
                      </a:pPr>
                      <a:r>
                        <a:t>206</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r>
              <a:tr h="310896">
                <a:tc>
                  <a:txBody>
                    <a:bodyPr/>
                    <a:lstStyle/>
                    <a:p>
                      <a:pPr>
                        <a:defRPr sz="1250" b="0">
                          <a:solidFill>
                            <a:srgbClr val="E6EDF3"/>
                          </a:solidFill>
                        </a:defRPr>
                      </a:pPr>
                      <a:r>
                        <a:t>Capture-1-1</a:t>
                      </a:r>
                    </a:p>
                  </a:txBody>
                  <a:tcPr marL="73152" marR="54864" marT="18288" marB="18288" anchor="ctr">
                    <a:solidFill>
                      <a:srgbClr val="161B22"/>
                    </a:solidFill>
                  </a:tcPr>
                </a:tc>
                <a:tc>
                  <a:txBody>
                    <a:bodyPr/>
                    <a:lstStyle/>
                    <a:p>
                      <a:pPr>
                        <a:defRPr sz="1250" b="0">
                          <a:solidFill>
                            <a:srgbClr val="E6EDF3"/>
                          </a:solidFill>
                        </a:defRPr>
                      </a:pPr>
                      <a:r>
                        <a:t>HideNSeek</a:t>
                      </a:r>
                    </a:p>
                  </a:txBody>
                  <a:tcPr marL="73152" marR="54864" marT="18288" marB="18288" anchor="ctr">
                    <a:solidFill>
                      <a:srgbClr val="161B22"/>
                    </a:solidFill>
                  </a:tcPr>
                </a:tc>
                <a:tc>
                  <a:txBody>
                    <a:bodyPr/>
                    <a:lstStyle/>
                    <a:p>
                      <a:pPr>
                        <a:defRPr sz="1250" b="0">
                          <a:solidFill>
                            <a:srgbClr val="E6EDF3"/>
                          </a:solidFill>
                        </a:defRPr>
                      </a:pPr>
                      <a:r>
                        <a:t>38,401</a:t>
                      </a:r>
                    </a:p>
                  </a:txBody>
                  <a:tcPr marL="73152" marR="54864" marT="18288" marB="18288" anchor="ctr">
                    <a:solidFill>
                      <a:srgbClr val="161B22"/>
                    </a:solidFill>
                  </a:tcPr>
                </a:tc>
                <a:tc>
                  <a:txBody>
                    <a:bodyPr/>
                    <a:lstStyle/>
                    <a:p>
                      <a:pPr>
                        <a:defRPr sz="1250" b="0">
                          <a:solidFill>
                            <a:srgbClr val="E6EDF3"/>
                          </a:solidFill>
                        </a:defRPr>
                      </a:pPr>
                      <a:r>
                        <a:t>1.000 (infected host, 0 clean FPs)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Capture-42-1</a:t>
                      </a:r>
                    </a:p>
                  </a:txBody>
                  <a:tcPr marL="73152" marR="54864" marT="18288" marB="18288" anchor="ctr">
                    <a:solidFill>
                      <a:srgbClr val="161B22"/>
                    </a:solidFill>
                  </a:tcPr>
                </a:tc>
                <a:tc>
                  <a:txBody>
                    <a:bodyPr/>
                    <a:lstStyle/>
                    <a:p>
                      <a:pPr>
                        <a:defRPr sz="1250" b="0">
                          <a:solidFill>
                            <a:srgbClr val="E6EDF3"/>
                          </a:solidFill>
                        </a:defRPr>
                      </a:pPr>
                      <a:r>
                        <a:t>Trojan</a:t>
                      </a:r>
                    </a:p>
                  </a:txBody>
                  <a:tcPr marL="73152" marR="54864" marT="18288" marB="18288" anchor="ctr">
                    <a:solidFill>
                      <a:srgbClr val="161B22"/>
                    </a:solidFill>
                  </a:tcPr>
                </a:tc>
                <a:tc>
                  <a:txBody>
                    <a:bodyPr/>
                    <a:lstStyle/>
                    <a:p>
                      <a:pPr>
                        <a:defRPr sz="1250" b="0">
                          <a:solidFill>
                            <a:srgbClr val="E6EDF3"/>
                          </a:solidFill>
                        </a:defRPr>
                      </a:pPr>
                      <a:r>
                        <a:t>0</a:t>
                      </a:r>
                    </a:p>
                  </a:txBody>
                  <a:tcPr marL="73152" marR="54864" marT="18288" marB="18288" anchor="ctr">
                    <a:solidFill>
                      <a:srgbClr val="161B22"/>
                    </a:solidFill>
                  </a:tcPr>
                </a:tc>
                <a:tc>
                  <a:txBody>
                    <a:bodyPr/>
                    <a:lstStyle/>
                    <a:p>
                      <a:pPr>
                        <a:defRPr sz="1250" b="0">
                          <a:solidFill>
                            <a:srgbClr val="E6EDF3"/>
                          </a:solidFill>
                        </a:defRPr>
                      </a:pPr>
                      <a:r>
                        <a:t>0.000 — a total miss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Honeypot-4-1</a:t>
                      </a:r>
                    </a:p>
                  </a:txBody>
                  <a:tcPr marL="73152" marR="54864" marT="18288" marB="18288" anchor="ctr">
                    <a:solidFill>
                      <a:srgbClr val="161B22"/>
                    </a:solidFill>
                  </a:tcPr>
                </a:tc>
                <a:tc>
                  <a:txBody>
                    <a:bodyPr/>
                    <a:lstStyle/>
                    <a:p>
                      <a:pPr>
                        <a:defRPr sz="1250" b="0">
                          <a:solidFill>
                            <a:srgbClr val="E6EDF3"/>
                          </a:solidFill>
                        </a:defRPr>
                      </a:pPr>
                      <a:r>
                        <a:t>benign HUE</a:t>
                      </a:r>
                    </a:p>
                  </a:txBody>
                  <a:tcPr marL="73152" marR="54864" marT="18288" marB="18288" anchor="ctr">
                    <a:solidFill>
                      <a:srgbClr val="161B22"/>
                    </a:solidFill>
                  </a:tcPr>
                </a:tc>
                <a:tc>
                  <a:txBody>
                    <a:bodyPr/>
                    <a:lstStyle/>
                    <a:p>
                      <a:pPr>
                        <a:defRPr sz="1250" b="0">
                          <a:solidFill>
                            <a:srgbClr val="E6EDF3"/>
                          </a:solidFill>
                        </a:defRPr>
                      </a:pPr>
                      <a:r>
                        <a:t>8</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c>
                  <a:txBody>
                    <a:bodyPr/>
                    <a:lstStyle/>
                    <a:p>
                      <a:pPr>
                        <a:defRPr sz="1250" b="0">
                          <a:solidFill>
                            <a:srgbClr val="E6EDF3"/>
                          </a:solidFill>
                        </a:defRPr>
                      </a:pPr>
                      <a:r>
                        <a:t>0.000 — real FP</a:t>
                      </a:r>
                    </a:p>
                  </a:txBody>
                  <a:tcPr marL="73152" marR="54864" marT="18288" marB="18288" anchor="ctr">
                    <a:solidFill>
                      <a:srgbClr val="161B22"/>
                    </a:solidFill>
                  </a:tcPr>
                </a:tc>
              </a:tr>
            </a:tbl>
          </a:graphicData>
        </a:graphic>
      </p:graphicFrame>
      <p:sp>
        <p:nvSpPr>
          <p:cNvPr id="5" name="TextBox 4"/>
          <p:cNvSpPr txBox="1"/>
          <p:nvPr/>
        </p:nvSpPr>
        <p:spPr>
          <a:xfrm>
            <a:off x="502920" y="3566160"/>
            <a:ext cx="11185855" cy="2971800"/>
          </a:xfrm>
          <a:prstGeom prst="rect">
            <a:avLst/>
          </a:prstGeom>
          <a:noFill/>
        </p:spPr>
        <p:txBody>
          <a:bodyPr wrap="square">
            <a:spAutoFit/>
          </a:bodyPr>
          <a:lstStyle/>
          <a:p>
            <a:pPr>
              <a:spcAft>
                <a:spcPts val="600"/>
              </a:spcAft>
              <a:defRPr sz="1350">
                <a:solidFill>
                  <a:srgbClr val="E6EDF3"/>
                </a:solidFill>
              </a:defRPr>
            </a:pPr>
            <a:r>
              <a:t>Scoring is per host, not per flow: Mirai worm-spread makes one infected host emit tens of thousands of “benign” scan flows, so per-flow precision looks like 0.017 when the detector is right. A host is the unit an analyst responds to.</a:t>
            </a:r>
          </a:p>
          <a:p>
            <a:pPr>
              <a:spcAft>
                <a:spcPts val="600"/>
              </a:spcAft>
              <a:defRPr sz="1350">
                <a:solidFill>
                  <a:srgbClr val="3FB950"/>
                </a:solidFill>
              </a:defRPr>
            </a:pPr>
            <a:r>
              <a:t>The C2-beaconing detector generalises to real malware with no retuning — perfect host recall on two different families on two different captures. Periodicity is periodicity regardless of the botnet.</a:t>
            </a:r>
          </a:p>
          <a:p>
            <a:pPr>
              <a:spcAft>
                <a:spcPts val="600"/>
              </a:spcAft>
              <a:defRPr sz="1350">
                <a:solidFill>
                  <a:srgbClr val="D29922"/>
                </a:solidFill>
              </a:defRPr>
            </a:pPr>
            <a:r>
              <a:t>A real, honest miss: Capture-42-1 has six malicious C&amp;C flows and we raised zero. Say this before anyone finds it.</a:t>
            </a:r>
          </a:p>
          <a:p>
            <a:pPr>
              <a:spcAft>
                <a:spcPts val="600"/>
              </a:spcAft>
              <a:defRPr sz="1350">
                <a:solidFill>
                  <a:srgbClr val="D29922"/>
                </a:solidFill>
              </a:defRPr>
            </a:pPr>
            <a:r>
              <a:t>A real, structural FP: the benign Philips HUE smart bulb phoning home to Google and AWS fires as C2 beaconing — low-jitter periodic traffic to a small set of cloud destinations is exactly what beaconing looks like one-way. Not a tuning bug; a fundamental confound for a one-way egress monitor.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Gaps — own them before a judge finds them</a:t>
            </a:r>
          </a:p>
          <a:p>
            <a:pPr>
              <a:defRPr sz="1400">
                <a:solidFill>
                  <a:srgbClr val="9DA5B0"/>
                </a:solidFill>
              </a:defRPr>
            </a:pPr>
            <a:r>
              <a:t>Volunteering a limitation reads as rigour; getting caught reads as an overclaim</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UDP reflection/amplification and Slowloris are not separately modelled. The reflection flood is caught as a volumetric symptom; Slowloris is in the statement’s dataset suggestions, not the scored threat list, and one-way it would be a long-lived half-open-flow pattern we have not built.</a:t>
            </a:r>
          </a:p>
          <a:p>
            <a:pPr>
              <a:spcAft>
                <a:spcPts val="600"/>
              </a:spcAft>
              <a:defRPr sz="1400">
                <a:solidFill>
                  <a:srgbClr val="E6EDF3"/>
                </a:solidFill>
              </a:defRPr>
            </a:pPr>
            <a:r>
              <a:t>The circularity of our own generator is real and partly answered: temporal splits, published label noise, an external corpus scored as shipped, and the IoT-23 run above — two families, one honest miss, one structural FP.</a:t>
            </a:r>
          </a:p>
          <a:p>
            <a:pPr>
              <a:spcAft>
                <a:spcPts val="600"/>
              </a:spcAft>
              <a:defRPr sz="1400">
                <a:solidFill>
                  <a:srgbClr val="D29922"/>
                </a:solidFill>
              </a:defRPr>
            </a:pPr>
            <a:r>
              <a:t>Live capture against a real interface is NOT tested. The dev container has CapBnd: 0. Verified end-to-end instead: a real FIFO reproduces the offline alert stream byte-for-byte, with drop accounting and both privilege-failure paths. The only unexercised piece is the AF_PACKET socket setup itself — we say that first.</a:t>
            </a:r>
          </a:p>
          <a:p>
            <a:pPr>
              <a:spcAft>
                <a:spcPts val="600"/>
              </a:spcAft>
              <a:defRPr sz="1400">
                <a:solidFill>
                  <a:srgbClr val="E6EDF3"/>
                </a:solidFill>
              </a:defRPr>
            </a:pPr>
            <a:r>
              <a:t>240 Mbps is extrapolated from a 0.11 Mbps capture: fair, dissection is O(1) per packet so pkt/s generalises, and the 1-in-N sampling guard exists precisely because the pure-Python ceiling is ~50k pkt/s — above it we degrade coverage deterministically and report the loss rather than hide it.</a:t>
            </a:r>
          </a:p>
          <a:p>
            <a:pPr>
              <a:spcAft>
                <a:spcPts val="600"/>
              </a:spcAft>
              <a:defRPr sz="1400">
                <a:solidFill>
                  <a:srgbClr val="9DA5B0"/>
                </a:solidFill>
              </a:defRPr>
            </a:pPr>
            <a:r>
              <a:t>The IoT-23 category 5–7 models did not fire on any real scenario — still unvalidated on real traffic.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Things in the repo that exist only because of the constraint</a:t>
            </a:r>
          </a:p>
          <a:p>
            <a:pPr>
              <a:defRPr sz="1400">
                <a:solidFill>
                  <a:srgbClr val="9DA5B0"/>
                </a:solidFill>
              </a:defRPr>
            </a:pPr>
            <a:r>
              <a:t>Each is a direct consequence of one-way, not a generic feature</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E6EDF3"/>
                </a:solidFill>
              </a:defRPr>
            </a:pPr>
            <a:r>
              <a:t>Cross-signal fusion (not asked for): two weak one-way signals become one strong verdict — beacon + known-bad JA4 → confirmed_c2_implant; beacon + DGA → botnet_c2_with_dga. Fire-on-escalation so an incident does not re-fire every window.</a:t>
            </a:r>
          </a:p>
          <a:p>
            <a:pPr>
              <a:spcAft>
                <a:spcPts val="600"/>
              </a:spcAft>
              <a:defRPr sz="1350">
                <a:solidFill>
                  <a:srgbClr val="E6EDF3"/>
                </a:solidFill>
              </a:defRPr>
            </a:pPr>
            <a:r>
              <a:t>Restart-safe fingerprint inventory (--state): without warm-start, a sensor restart blinds novelty detection for another baseline period — exactly the window an attacker would choose. The baseline gate is skipped on warm load.</a:t>
            </a:r>
          </a:p>
          <a:p>
            <a:pPr>
              <a:spcAft>
                <a:spcPts val="600"/>
              </a:spcAft>
              <a:defRPr sz="1350">
                <a:solidFill>
                  <a:srgbClr val="E6EDF3"/>
                </a:solidFill>
              </a:defRPr>
            </a:pPr>
            <a:r>
              <a:t>Baseline poisoning prevention: known-bad TLS handshakes are never fed into the inventory, so an ongoing attack cannot teach the sensor that it is normal.</a:t>
            </a:r>
          </a:p>
          <a:p>
            <a:pPr>
              <a:spcAft>
                <a:spcPts val="600"/>
              </a:spcAft>
              <a:defRPr sz="1350">
                <a:solidFill>
                  <a:srgbClr val="E6EDF3"/>
                </a:solidFill>
              </a:defRPr>
            </a:pPr>
            <a:r>
              <a:t>Operator-curated allowlist, deliberately not auto-learned: auto-learning periodic traffic whitelists existing botnets.</a:t>
            </a:r>
          </a:p>
          <a:p>
            <a:pPr>
              <a:spcAft>
                <a:spcPts val="600"/>
              </a:spcAft>
              <a:defRPr sz="1350">
                <a:solidFill>
                  <a:srgbClr val="E6EDF3"/>
                </a:solidFill>
              </a:defRPr>
            </a:pPr>
            <a:r>
              <a:t>Evidence-scaled statistical gates: sampling CV at n=6 is noisy (a benign process dips under a fixed gate ~2% of the time), so the gate is tight for small n and standard for n ≥ 10. Found by a real benign DNS poll landing at CV 0.2249 against a 0.25 gate.</a:t>
            </a:r>
          </a:p>
          <a:p>
            <a:pPr>
              <a:spcAft>
                <a:spcPts val="600"/>
              </a:spcAft>
              <a:defRPr sz="1350">
                <a:solidFill>
                  <a:srgbClr val="E6EDF3"/>
                </a:solidFill>
              </a:defRPr>
            </a:pPr>
            <a:r>
              <a:t>Every alert carries a human-readable why next to the machine-readable features — a label plus a score is not triageable at 03:00.</a:t>
            </a:r>
          </a:p>
          <a:p>
            <a:pPr>
              <a:spcAft>
                <a:spcPts val="600"/>
              </a:spcAft>
              <a:defRPr sz="1350">
                <a:solidFill>
                  <a:srgbClr val="E6EDF3"/>
                </a:solidFill>
              </a:defRPr>
            </a:pPr>
            <a:r>
              <a:t>A second, independently trained model on a different input type: the DGA CNN reads the string, the flow model reads tabular statistics. Different data, different failure modes, and the CNN’s win is attributable to a documented bias in the rules rather than to “more 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58A6FF"/>
                </a:solidFill>
              </a:defRPr>
            </a:pPr>
            <a:r>
              <a:t>If you only remember three sentences</a:t>
            </a:r>
          </a:p>
        </p:txBody>
      </p:sp>
      <p:sp>
        <p:nvSpPr>
          <p:cNvPr id="4" name="TextBox 3"/>
          <p:cNvSpPr txBox="1"/>
          <p:nvPr/>
        </p:nvSpPr>
        <p:spPr>
          <a:xfrm>
            <a:off x="502920" y="1463040"/>
            <a:ext cx="11185855" cy="5074920"/>
          </a:xfrm>
          <a:prstGeom prst="rect">
            <a:avLst/>
          </a:prstGeom>
          <a:noFill/>
        </p:spPr>
        <p:txBody>
          <a:bodyPr wrap="square">
            <a:spAutoFit/>
          </a:bodyPr>
          <a:lstStyle/>
          <a:p>
            <a:pPr>
              <a:spcAft>
                <a:spcPts val="1600"/>
              </a:spcAft>
              <a:defRPr sz="1900">
                <a:solidFill>
                  <a:srgbClr val="E6EDF3"/>
                </a:solidFill>
              </a:defRPr>
            </a:pPr>
            <a:r>
              <a:t>“Five of the features the problem statement requests are impossible under its own first constraint — we enumerated them, substituted one-way signals, and made the constraint enforceable in CI so the code cannot silently reach for a response that never arrives.”</a:t>
            </a:r>
          </a:p>
          <a:p>
            <a:pPr>
              <a:spcAft>
                <a:spcPts val="1600"/>
              </a:spcAft>
              <a:defRPr sz="1900">
                <a:solidFill>
                  <a:srgbClr val="E6EDF3"/>
                </a:solidFill>
              </a:defRPr>
            </a:pPr>
            <a:r>
              <a:t>“The clock closes our windows, not the traffic — that is the difference between bounded latency and an end-of-run report.”</a:t>
            </a:r>
          </a:p>
          <a:p>
            <a:pPr>
              <a:spcAft>
                <a:spcPts val="1600"/>
              </a:spcAft>
              <a:defRPr sz="1900">
                <a:solidFill>
                  <a:srgbClr val="E6EDF3"/>
                </a:solidFill>
              </a:defRPr>
            </a:pPr>
            <a:r>
              <a:t>“We ran it against real malware on IoT-23, not just our own generator: two families detected with no retuning, one honest miss, and one false positive that is structural to one-way monitoring rather than a bug.”</a:t>
            </a:r>
          </a:p>
        </p:txBody>
      </p:sp>
      <p:sp>
        <p:nvSpPr>
          <p:cNvPr id="5" name="Rounded Rectangle 4"/>
          <p:cNvSpPr/>
          <p:nvPr/>
        </p:nvSpPr>
        <p:spPr>
          <a:xfrm>
            <a:off x="502920" y="5212080"/>
            <a:ext cx="11185855" cy="91440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349240"/>
            <a:ext cx="10728655" cy="731520"/>
          </a:xfrm>
          <a:prstGeom prst="rect">
            <a:avLst/>
          </a:prstGeom>
          <a:noFill/>
        </p:spPr>
        <p:txBody>
          <a:bodyPr wrap="square">
            <a:spAutoFit/>
          </a:bodyPr>
          <a:lstStyle/>
          <a:p>
            <a:pPr algn="ctr">
              <a:defRPr sz="1500">
                <a:solidFill>
                  <a:srgbClr val="9DA5B0"/>
                </a:solidFill>
              </a:defRPr>
            </a:pPr>
            <a:r>
              <a:t>323 checks across ten suites, all green · 6/6 threat classes · ~50k pkt/s single-core pure Python · built with no C extension, no GPU, and nothing that requires a reply.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