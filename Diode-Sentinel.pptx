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731520" y="1828800"/>
            <a:ext cx="10728655" cy="3108960"/>
          </a:xfrm>
          <a:prstGeom prst="rect">
            <a:avLst/>
          </a:prstGeom>
          <a:noFill/>
        </p:spPr>
        <p:txBody>
          <a:bodyPr wrap="square">
            <a:spAutoFit/>
          </a:bodyPr>
          <a:lstStyle/>
          <a:p>
            <a:pPr>
              <a:defRPr sz="5800" b="1">
                <a:solidFill>
                  <a:srgbClr val="58A6FF"/>
                </a:solidFill>
              </a:defRPr>
            </a:pPr>
            <a:r>
              <a:t>Diode Sentinel</a:t>
            </a:r>
          </a:p>
          <a:p>
            <a:pPr>
              <a:spcAft>
                <a:spcPts val="800"/>
              </a:spcAft>
              <a:defRPr sz="2200">
                <a:solidFill>
                  <a:srgbClr val="E6EDF3"/>
                </a:solidFill>
              </a:defRPr>
            </a:pPr>
            <a:r>
              <a:t>AI-Based Detection of Cyber Threats in Unidirectional IP Traffic</a:t>
            </a:r>
          </a:p>
          <a:p>
            <a:pPr>
              <a:spcAft>
                <a:spcPts val="800"/>
              </a:spcAft>
              <a:defRPr sz="1600">
                <a:solidFill>
                  <a:srgbClr val="9DA5B0"/>
                </a:solidFill>
              </a:defRPr>
            </a:pPr>
            <a:r>
              <a:t>PS-26145 · NTRO · Software · Blockchain &amp; Cybersecurity</a:t>
            </a:r>
          </a:p>
          <a:p>
            <a:pPr>
              <a:spcAft>
                <a:spcPts val="800"/>
              </a:spcAft>
              <a:defRPr sz="800">
                <a:solidFill>
                  <a:srgbClr val="9DA5B0"/>
                </a:solidFill>
              </a:defRPr>
            </a:pPr>
          </a:p>
          <a:p>
            <a:pPr>
              <a:spcAft>
                <a:spcPts val="800"/>
              </a:spcAft>
              <a:defRPr sz="1500">
                <a:solidFill>
                  <a:srgbClr val="3FB950"/>
                </a:solidFill>
              </a:defRPr>
            </a:pPr>
            <a:r>
              <a:t>Every claim below is anchored to a file you can open on stage.</a:t>
            </a:r>
          </a:p>
          <a:p>
            <a:pPr>
              <a:spcAft>
                <a:spcPts val="800"/>
              </a:spcAft>
              <a:defRPr sz="1500">
                <a:solidFill>
                  <a:srgbClr val="3FB950"/>
                </a:solidFill>
              </a:defRPr>
            </a:pPr>
            <a:r>
              <a:t>Where something is a gap, the deck says so.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A threat detector inside a room with no door</a:t>
            </a:r>
          </a:p>
          <a:p>
            <a:pPr>
              <a:defRPr sz="1400">
                <a:solidFill>
                  <a:srgbClr val="9DA5B0"/>
                </a:solidFill>
              </a:defRPr>
            </a:pPr>
            <a:r>
              <a:t>The framing that reframes every judge question</a:t>
            </a:r>
          </a:p>
        </p:txBody>
      </p:sp>
      <p:sp>
        <p:nvSpPr>
          <p:cNvPr id="4" name="Rounded Rectangle 3"/>
          <p:cNvSpPr/>
          <p:nvPr/>
        </p:nvSpPr>
        <p:spPr>
          <a:xfrm>
            <a:off x="502920" y="1371600"/>
            <a:ext cx="11185855" cy="1554480"/>
          </a:xfrm>
          <a:prstGeom prst="roundRect">
            <a:avLst/>
          </a:prstGeom>
          <a:solidFill>
            <a:srgbClr val="141A24"/>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00200"/>
            <a:ext cx="10637215" cy="1097280"/>
          </a:xfrm>
          <a:prstGeom prst="rect">
            <a:avLst/>
          </a:prstGeom>
          <a:noFill/>
        </p:spPr>
        <p:txBody>
          <a:bodyPr wrap="square">
            <a:spAutoFit/>
          </a:bodyPr>
          <a:lstStyle/>
          <a:p>
            <a:pPr>
              <a:defRPr sz="2100" i="1">
                <a:solidFill>
                  <a:srgbClr val="E6EDF3"/>
                </a:solidFill>
              </a:defRPr>
            </a:pPr>
            <a:r>
              <a:t>“The statement does not ask for a threat detector. It asks for a threat detector inside a room with no door. Anyone can run an IDS on a mirror port; the entire difficulty is that we are forbidden from asking the network a single question.”</a:t>
            </a:r>
          </a:p>
        </p:txBody>
      </p:sp>
      <p:sp>
        <p:nvSpPr>
          <p:cNvPr id="6" name="Rounded Rectangle 5"/>
          <p:cNvSpPr/>
          <p:nvPr/>
        </p:nvSpPr>
        <p:spPr>
          <a:xfrm>
            <a:off x="777240" y="3401568"/>
            <a:ext cx="2971800" cy="1234440"/>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3401568"/>
            <a:ext cx="50292" cy="1234440"/>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3493008"/>
            <a:ext cx="2651760" cy="1088136"/>
          </a:xfrm>
          <a:prstGeom prst="rect">
            <a:avLst/>
          </a:prstGeom>
          <a:noFill/>
        </p:spPr>
        <p:txBody>
          <a:bodyPr wrap="square" lIns="0" rIns="0" tIns="0" bIns="0">
            <a:spAutoFit/>
          </a:bodyPr>
          <a:lstStyle/>
          <a:p>
            <a:pPr>
              <a:spcAft>
                <a:spcPts val="400"/>
              </a:spcAft>
              <a:defRPr sz="900" b="1">
                <a:solidFill>
                  <a:srgbClr val="3FB950"/>
                </a:solidFill>
              </a:defRPr>
            </a:pPr>
            <a:r>
              <a:t>PROTECTED NETWORK</a:t>
            </a:r>
          </a:p>
          <a:p>
            <a:pPr>
              <a:spcAft>
                <a:spcPts val="300"/>
              </a:spcAft>
              <a:defRPr sz="1700" b="1">
                <a:solidFill>
                  <a:srgbClr val="E6EDF3"/>
                </a:solidFill>
              </a:defRPr>
            </a:pPr>
            <a:r>
              <a:t>Transmit side</a:t>
            </a:r>
          </a:p>
          <a:p>
            <a:pPr>
              <a:defRPr sz="1100">
                <a:solidFill>
                  <a:srgbClr val="9DA5B0"/>
                </a:solidFill>
              </a:defRPr>
            </a:pPr>
            <a:r>
              <a:t>One-way traffic leaves the protected zone.</a:t>
            </a:r>
          </a:p>
        </p:txBody>
      </p:sp>
      <p:sp>
        <p:nvSpPr>
          <p:cNvPr id="9" name="TextBox 8"/>
          <p:cNvSpPr txBox="1"/>
          <p:nvPr/>
        </p:nvSpPr>
        <p:spPr>
          <a:xfrm>
            <a:off x="3950208" y="3776472"/>
            <a:ext cx="438912" cy="384048"/>
          </a:xfrm>
          <a:prstGeom prst="rect">
            <a:avLst/>
          </a:prstGeom>
          <a:noFill/>
        </p:spPr>
        <p:txBody>
          <a:bodyPr wrap="none">
            <a:spAutoFit/>
          </a:bodyPr>
          <a:lstStyle/>
          <a:p>
            <a:pPr algn="ctr">
              <a:defRPr sz="2500" b="1">
                <a:solidFill>
                  <a:srgbClr val="58A6FF"/>
                </a:solidFill>
              </a:defRPr>
            </a:pPr>
            <a:r>
              <a:t>→</a:t>
            </a:r>
          </a:p>
        </p:txBody>
      </p:sp>
      <p:sp>
        <p:nvSpPr>
          <p:cNvPr id="10" name="Rounded Rectangle 9"/>
          <p:cNvSpPr/>
          <p:nvPr/>
        </p:nvSpPr>
        <p:spPr>
          <a:xfrm>
            <a:off x="4590288" y="3401568"/>
            <a:ext cx="2971800" cy="1234440"/>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90288" y="3401568"/>
            <a:ext cx="50292" cy="1234440"/>
          </a:xfrm>
          <a:prstGeom prst="rect">
            <a:avLst/>
          </a:prstGeom>
          <a:solidFill>
            <a:srgbClr val="D299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73168" y="3493008"/>
            <a:ext cx="2651760" cy="1088136"/>
          </a:xfrm>
          <a:prstGeom prst="rect">
            <a:avLst/>
          </a:prstGeom>
          <a:noFill/>
        </p:spPr>
        <p:txBody>
          <a:bodyPr wrap="square" lIns="0" rIns="0" tIns="0" bIns="0">
            <a:spAutoFit/>
          </a:bodyPr>
          <a:lstStyle/>
          <a:p>
            <a:pPr>
              <a:spcAft>
                <a:spcPts val="400"/>
              </a:spcAft>
              <a:defRPr sz="900" b="1">
                <a:solidFill>
                  <a:srgbClr val="D29922"/>
                </a:solidFill>
              </a:defRPr>
            </a:pPr>
            <a:r>
              <a:t>HARDWARE BOUNDARY</a:t>
            </a:r>
          </a:p>
          <a:p>
            <a:pPr>
              <a:spcAft>
                <a:spcPts val="300"/>
              </a:spcAft>
              <a:defRPr sz="1700" b="1">
                <a:solidFill>
                  <a:srgbClr val="E6EDF3"/>
                </a:solidFill>
              </a:defRPr>
            </a:pPr>
            <a:r>
              <a:t>Data diode</a:t>
            </a:r>
          </a:p>
          <a:p>
            <a:pPr>
              <a:defRPr sz="1100">
                <a:solidFill>
                  <a:srgbClr val="9DA5B0"/>
                </a:solidFill>
              </a:defRPr>
            </a:pPr>
            <a:r>
              <a:t>Copies packets across; provides no return path.</a:t>
            </a:r>
          </a:p>
        </p:txBody>
      </p:sp>
      <p:sp>
        <p:nvSpPr>
          <p:cNvPr id="13" name="TextBox 12"/>
          <p:cNvSpPr txBox="1"/>
          <p:nvPr/>
        </p:nvSpPr>
        <p:spPr>
          <a:xfrm>
            <a:off x="7772400" y="3776472"/>
            <a:ext cx="438912" cy="384048"/>
          </a:xfrm>
          <a:prstGeom prst="rect">
            <a:avLst/>
          </a:prstGeom>
          <a:noFill/>
        </p:spPr>
        <p:txBody>
          <a:bodyPr wrap="none">
            <a:spAutoFit/>
          </a:bodyPr>
          <a:lstStyle/>
          <a:p>
            <a:pPr algn="ctr">
              <a:defRPr sz="2500" b="1">
                <a:solidFill>
                  <a:srgbClr val="58A6FF"/>
                </a:solidFill>
              </a:defRPr>
            </a:pPr>
            <a:r>
              <a:t>→</a:t>
            </a:r>
          </a:p>
        </p:txBody>
      </p:sp>
      <p:sp>
        <p:nvSpPr>
          <p:cNvPr id="14" name="Rounded Rectangle 13"/>
          <p:cNvSpPr/>
          <p:nvPr/>
        </p:nvSpPr>
        <p:spPr>
          <a:xfrm>
            <a:off x="8412480" y="3401568"/>
            <a:ext cx="2971800" cy="1234440"/>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12480" y="3401568"/>
            <a:ext cx="50292" cy="123444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59" y="3493008"/>
            <a:ext cx="2651760" cy="1088136"/>
          </a:xfrm>
          <a:prstGeom prst="rect">
            <a:avLst/>
          </a:prstGeom>
          <a:noFill/>
        </p:spPr>
        <p:txBody>
          <a:bodyPr wrap="square" lIns="0" rIns="0" tIns="0" bIns="0">
            <a:spAutoFit/>
          </a:bodyPr>
          <a:lstStyle/>
          <a:p>
            <a:pPr>
              <a:spcAft>
                <a:spcPts val="400"/>
              </a:spcAft>
              <a:defRPr sz="900" b="1">
                <a:solidFill>
                  <a:srgbClr val="58A6FF"/>
                </a:solidFill>
              </a:defRPr>
            </a:pPr>
            <a:r>
              <a:t>MONITORING ENCLAVE</a:t>
            </a:r>
          </a:p>
          <a:p>
            <a:pPr>
              <a:spcAft>
                <a:spcPts val="300"/>
              </a:spcAft>
              <a:defRPr sz="1700" b="1">
                <a:solidFill>
                  <a:srgbClr val="E6EDF3"/>
                </a:solidFill>
              </a:defRPr>
            </a:pPr>
            <a:r>
              <a:t>Receive side</a:t>
            </a:r>
          </a:p>
          <a:p>
            <a:pPr>
              <a:defRPr sz="1100">
                <a:solidFill>
                  <a:srgbClr val="9DA5B0"/>
                </a:solidFill>
              </a:defRPr>
            </a:pPr>
            <a:r>
              <a:t>Parse, score, and review observed evidence.</a:t>
            </a:r>
          </a:p>
        </p:txBody>
      </p:sp>
      <p:sp>
        <p:nvSpPr>
          <p:cNvPr id="17" name="Rounded Rectangle 16"/>
          <p:cNvSpPr/>
          <p:nvPr/>
        </p:nvSpPr>
        <p:spPr>
          <a:xfrm>
            <a:off x="1325880" y="4983480"/>
            <a:ext cx="9555480" cy="612648"/>
          </a:xfrm>
          <a:prstGeom prst="roundRect">
            <a:avLst/>
          </a:prstGeom>
          <a:solidFill>
            <a:srgbClr val="141A24"/>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4480" y="5102352"/>
            <a:ext cx="9144000" cy="329184"/>
          </a:xfrm>
          <a:prstGeom prst="rect">
            <a:avLst/>
          </a:prstGeom>
          <a:noFill/>
        </p:spPr>
        <p:txBody>
          <a:bodyPr wrap="none">
            <a:spAutoFit/>
          </a:bodyPr>
          <a:lstStyle/>
          <a:p>
            <a:pPr algn="ctr">
              <a:defRPr sz="1600">
                <a:solidFill>
                  <a:srgbClr val="9DA5B0"/>
                </a:solidFill>
              </a:defRPr>
            </a:pPr>
            <a:r>
              <a:t>No probes   ·   No response-side telemetry   ·   No payload decryption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The observability contract — our actual contribution</a:t>
            </a:r>
          </a:p>
          <a:p>
            <a:pPr>
              <a:defRPr sz="1400">
                <a:solidFill>
                  <a:srgbClr val="9DA5B0"/>
                </a:solidFill>
              </a:defRPr>
            </a:pPr>
            <a:r>
              <a:t>core/observability.py · 21 rows · each cites the feature, the PS class, the status, the reason</a:t>
            </a:r>
          </a:p>
        </p:txBody>
      </p:sp>
      <p:pic>
        <p:nvPicPr>
          <p:cNvPr id="4" name="Picture 3" descr="contract.png"/>
          <p:cNvPicPr>
            <a:picLocks noChangeAspect="1"/>
          </p:cNvPicPr>
          <p:nvPr/>
        </p:nvPicPr>
        <p:blipFill>
          <a:blip r:embed="rId2"/>
          <a:stretch>
            <a:fillRect/>
          </a:stretch>
        </p:blipFill>
        <p:spPr>
          <a:xfrm>
            <a:off x="411480" y="1078992"/>
            <a:ext cx="7040880" cy="3960495"/>
          </a:xfrm>
          <a:prstGeom prst="rect">
            <a:avLst/>
          </a:prstGeom>
        </p:spPr>
      </p:pic>
      <p:sp>
        <p:nvSpPr>
          <p:cNvPr id="5" name="TextBox 4"/>
          <p:cNvSpPr txBox="1"/>
          <p:nvPr/>
        </p:nvSpPr>
        <p:spPr>
          <a:xfrm>
            <a:off x="7726679" y="1234440"/>
            <a:ext cx="4" cy="5303520"/>
          </a:xfrm>
          <a:prstGeom prst="rect">
            <a:avLst/>
          </a:prstGeom>
          <a:noFill/>
        </p:spPr>
        <p:txBody>
          <a:bodyPr wrap="square">
            <a:spAutoFit/>
          </a:bodyPr>
          <a:lstStyle/>
          <a:p>
            <a:pPr>
              <a:spcAft>
                <a:spcPts val="600"/>
              </a:spcAft>
              <a:defRPr sz="1400">
                <a:solidFill>
                  <a:srgbClr val="E6EDF3"/>
                </a:solidFill>
              </a:defRPr>
            </a:pPr>
            <a:r>
              <a:t>Every team will build detectors. The finding no other submission will have is knowing which requested features can exist at all.</a:t>
            </a:r>
          </a:p>
          <a:p>
            <a:pPr>
              <a:spcAft>
                <a:spcPts val="600"/>
              </a:spcAft>
              <a:defRPr sz="1400">
                <a:solidFill>
                  <a:srgbClr val="58A6FF"/>
                </a:solidFill>
              </a:defRPr>
            </a:pPr>
            <a:r>
              <a:t>The contract is enforced, not descriptive.</a:t>
            </a:r>
          </a:p>
          <a:p>
            <a:pPr lvl="1">
              <a:spcAft>
                <a:spcPts val="600"/>
              </a:spcAft>
              <a:defRPr sz="1200">
                <a:solidFill>
                  <a:srgbClr val="E6EDF3"/>
                </a:solidFill>
              </a:defRPr>
            </a:pPr>
            <a:r>
              <a:t>tests/test_contract.py scans detector sources for forbidden bidirectional tokens — ja3s, server_hello, rcode, nxdomain, ttl, rtt, bytes_in, in_out_ratio — and FAILS THE BUILD on a hit.</a:t>
            </a:r>
          </a:p>
          <a:p>
            <a:pPr lvl="1">
              <a:spcAft>
                <a:spcPts val="600"/>
              </a:spcAft>
              <a:defRPr sz="1200">
                <a:solidFill>
                  <a:srgbClr val="9DA5B0"/>
                </a:solidFill>
              </a:defRPr>
            </a:pPr>
            <a:r>
              <a:t>Verified to fail on an injected rcode read and pass once removed.</a:t>
            </a:r>
          </a:p>
          <a:p>
            <a:pPr>
              <a:spcAft>
                <a:spcPts val="600"/>
              </a:spcAft>
              <a:defRPr sz="1400">
                <a:solidFill>
                  <a:srgbClr val="E6EDF3"/>
                </a:solidFill>
              </a:defRPr>
            </a:pPr>
            <a:r>
              <a:t>UDP reflection needs response size, which the diode hides. We expose source fan-out and many-source shared-target burst proxies, with the threshold and measurements in each alert; neither claims amplification.</a:t>
            </a:r>
          </a:p>
          <a:p>
            <a:pPr>
              <a:spcAft>
                <a:spcPts val="600"/>
              </a:spcAft>
              <a:defRPr sz="1400">
                <a:solidFill>
                  <a:srgbClr val="E6EDF3"/>
                </a:solidFill>
              </a:defRPr>
            </a:pPr>
            <a:r>
              <a:t>The five IMPOSSIBLE rows are named with the physical reason each is absent — and the substitute we use instead.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Five requested features are impossible under the PS’s own constraint</a:t>
            </a:r>
          </a:p>
          <a:p>
            <a:pPr>
              <a:defRPr sz="1400">
                <a:solidFill>
                  <a:srgbClr val="9DA5B0"/>
                </a:solidFill>
              </a:defRPr>
            </a:pPr>
            <a:r>
              <a:t>This is a finding about the problem statement, not a limitation of our code</a:t>
            </a:r>
          </a:p>
        </p:txBody>
      </p:sp>
      <p:graphicFrame>
        <p:nvGraphicFramePr>
          <p:cNvPr id="4" name="Table 3"/>
          <p:cNvGraphicFramePr>
            <a:graphicFrameLocks noGrp="1"/>
          </p:cNvGraphicFramePr>
          <p:nvPr/>
        </p:nvGraphicFramePr>
        <p:xfrm>
          <a:off x="502920" y="1417320"/>
          <a:ext cx="11155677" cy="1865376"/>
        </p:xfrm>
        <a:graphic>
          <a:graphicData uri="http://schemas.openxmlformats.org/drawingml/2006/table">
            <a:tbl>
              <a:tblPr firstRow="1" bandRow="1">
                <a:tableStyleId>{5C22544A-7EE6-4342-B048-85BDC9FD1C3A}</a:tableStyleId>
              </a:tblPr>
              <a:tblGrid>
                <a:gridCol w="822959"/>
                <a:gridCol w="3108959"/>
                <a:gridCol w="7223759"/>
              </a:tblGrid>
              <a:tr h="310896">
                <a:tc>
                  <a:txBody>
                    <a:bodyPr/>
                    <a:lstStyle/>
                    <a:p>
                      <a:pPr>
                        <a:defRPr sz="1300" b="1">
                          <a:solidFill>
                            <a:srgbClr val="58A6FF"/>
                          </a:solidFill>
                        </a:defRPr>
                      </a:pPr>
                      <a:r>
                        <a:t>PS class</a:t>
                      </a:r>
                    </a:p>
                  </a:txBody>
                  <a:tcPr marL="73152" marR="54864" marT="18288" marB="18288" anchor="ctr">
                    <a:solidFill>
                      <a:srgbClr val="1C222B"/>
                    </a:solidFill>
                  </a:tcPr>
                </a:tc>
                <a:tc>
                  <a:txBody>
                    <a:bodyPr/>
                    <a:lstStyle/>
                    <a:p>
                      <a:pPr>
                        <a:defRPr sz="1300" b="1">
                          <a:solidFill>
                            <a:srgbClr val="58A6FF"/>
                          </a:solidFill>
                        </a:defRPr>
                      </a:pPr>
                      <a:r>
                        <a:t>Requested feature</a:t>
                      </a:r>
                    </a:p>
                  </a:txBody>
                  <a:tcPr marL="73152" marR="54864" marT="18288" marB="18288" anchor="ctr">
                    <a:solidFill>
                      <a:srgbClr val="1C222B"/>
                    </a:solidFill>
                  </a:tcPr>
                </a:tc>
                <a:tc>
                  <a:txBody>
                    <a:bodyPr/>
                    <a:lstStyle/>
                    <a:p>
                      <a:pPr>
                        <a:defRPr sz="1300" b="1">
                          <a:solidFill>
                            <a:srgbClr val="58A6FF"/>
                          </a:solidFill>
                        </a:defRPr>
                      </a:pPr>
                      <a:r>
                        <a:t>Why it cannot exist one-way</a:t>
                      </a:r>
                    </a:p>
                  </a:txBody>
                  <a:tcPr marL="73152" marR="54864" marT="18288" marB="18288" anchor="ctr">
                    <a:solidFill>
                      <a:srgbClr val="1C222B"/>
                    </a:solidFill>
                  </a:tcPr>
                </a:tc>
              </a:tr>
              <a:tr h="310896">
                <a:tc>
                  <a:txBody>
                    <a:bodyPr/>
                    <a:lstStyle/>
                    <a:p>
                      <a:pPr>
                        <a:defRPr sz="1300" b="0">
                          <a:solidFill>
                            <a:srgbClr val="E6EDF3"/>
                          </a:solidFill>
                        </a:defRPr>
                      </a:pPr>
                      <a:r>
                        <a:t>(d)</a:t>
                      </a:r>
                    </a:p>
                  </a:txBody>
                  <a:tcPr marL="73152" marR="54864" marT="18288" marB="18288" anchor="ctr">
                    <a:solidFill>
                      <a:srgbClr val="161B22"/>
                    </a:solidFill>
                  </a:tcPr>
                </a:tc>
                <a:tc>
                  <a:txBody>
                    <a:bodyPr/>
                    <a:lstStyle/>
                    <a:p>
                      <a:pPr>
                        <a:defRPr sz="1300" b="0">
                          <a:solidFill>
                            <a:srgbClr val="E6EDF3"/>
                          </a:solidFill>
                        </a:defRPr>
                      </a:pPr>
                      <a:r>
                        <a:t>JA3S / JA4S server fingerprint</a:t>
                      </a:r>
                    </a:p>
                  </a:txBody>
                  <a:tcPr marL="73152" marR="54864" marT="18288" marB="18288" anchor="ctr">
                    <a:solidFill>
                      <a:srgbClr val="161B22"/>
                    </a:solidFill>
                  </a:tcPr>
                </a:tc>
                <a:tc>
                  <a:txBody>
                    <a:bodyPr/>
                    <a:lstStyle/>
                    <a:p>
                      <a:pPr>
                        <a:defRPr sz="1300" b="0">
                          <a:solidFill>
                            <a:srgbClr val="E6EDF3"/>
                          </a:solidFill>
                        </a:defRPr>
                      </a:pPr>
                      <a:r>
                        <a:t>computed from the ServerHello — sent by the responder, the wrong direction</a:t>
                      </a:r>
                    </a:p>
                  </a:txBody>
                  <a:tcPr marL="73152" marR="54864" marT="18288" marB="18288" anchor="ctr">
                    <a:solidFill>
                      <a:srgbClr val="161B22"/>
                    </a:solidFill>
                  </a:tcPr>
                </a:tc>
              </a:tr>
              <a:tr h="310896">
                <a:tc>
                  <a:txBody>
                    <a:bodyPr/>
                    <a:lstStyle/>
                    <a:p>
                      <a:pPr>
                        <a:defRPr sz="1300" b="0">
                          <a:solidFill>
                            <a:srgbClr val="E6EDF3"/>
                          </a:solidFill>
                        </a:defRPr>
                      </a:pPr>
                      <a:r>
                        <a:t>(d)</a:t>
                      </a:r>
                    </a:p>
                  </a:txBody>
                  <a:tcPr marL="73152" marR="54864" marT="18288" marB="18288" anchor="ctr">
                    <a:solidFill>
                      <a:srgbClr val="161B22"/>
                    </a:solidFill>
                  </a:tcPr>
                </a:tc>
                <a:tc>
                  <a:txBody>
                    <a:bodyPr/>
                    <a:lstStyle/>
                    <a:p>
                      <a:pPr>
                        <a:defRPr sz="1300" b="0">
                          <a:solidFill>
                            <a:srgbClr val="E6EDF3"/>
                          </a:solidFill>
                        </a:defRPr>
                      </a:pPr>
                      <a:r>
                        <a:t>negotiated cipher / server certificate</a:t>
                      </a:r>
                    </a:p>
                  </a:txBody>
                  <a:tcPr marL="73152" marR="54864" marT="18288" marB="18288" anchor="ctr">
                    <a:solidFill>
                      <a:srgbClr val="161B22"/>
                    </a:solidFill>
                  </a:tcPr>
                </a:tc>
                <a:tc>
                  <a:txBody>
                    <a:bodyPr/>
                    <a:lstStyle/>
                    <a:p>
                      <a:pPr>
                        <a:defRPr sz="1300" b="0">
                          <a:solidFill>
                            <a:srgbClr val="E6EDF3"/>
                          </a:solidFill>
                        </a:defRPr>
                      </a:pPr>
                      <a:r>
                        <a:t>both chosen by the responder after the handshake, off the observable path</a:t>
                      </a:r>
                    </a:p>
                  </a:txBody>
                  <a:tcPr marL="73152" marR="54864" marT="18288" marB="18288" anchor="ctr">
                    <a:solidFill>
                      <a:srgbClr val="161B22"/>
                    </a:solidFill>
                  </a:tcPr>
                </a:tc>
              </a:tr>
              <a:tr h="310896">
                <a:tc>
                  <a:txBody>
                    <a:bodyPr/>
                    <a:lstStyle/>
                    <a:p>
                      <a:pPr>
                        <a:defRPr sz="1300" b="0">
                          <a:solidFill>
                            <a:srgbClr val="E6EDF3"/>
                          </a:solidFill>
                        </a:defRPr>
                      </a:pPr>
                      <a:r>
                        <a:t>(b)</a:t>
                      </a:r>
                    </a:p>
                  </a:txBody>
                  <a:tcPr marL="73152" marR="54864" marT="18288" marB="18288" anchor="ctr">
                    <a:solidFill>
                      <a:srgbClr val="161B22"/>
                    </a:solidFill>
                  </a:tcPr>
                </a:tc>
                <a:tc>
                  <a:txBody>
                    <a:bodyPr/>
                    <a:lstStyle/>
                    <a:p>
                      <a:pPr>
                        <a:defRPr sz="1300" b="0">
                          <a:solidFill>
                            <a:srgbClr val="E6EDF3"/>
                          </a:solidFill>
                        </a:defRPr>
                      </a:pPr>
                      <a:r>
                        <a:t>round-trip time</a:t>
                      </a:r>
                    </a:p>
                  </a:txBody>
                  <a:tcPr marL="73152" marR="54864" marT="18288" marB="18288" anchor="ctr">
                    <a:solidFill>
                      <a:srgbClr val="161B22"/>
                    </a:solidFill>
                  </a:tcPr>
                </a:tc>
                <a:tc>
                  <a:txBody>
                    <a:bodyPr/>
                    <a:lstStyle/>
                    <a:p>
                      <a:pPr>
                        <a:defRPr sz="1300" b="0">
                          <a:solidFill>
                            <a:srgbClr val="E6EDF3"/>
                          </a:solidFill>
                        </a:defRPr>
                      </a:pPr>
                      <a:r>
                        <a:t>needs the response; one-way latency is unmeasurable without a return path</a:t>
                      </a:r>
                    </a:p>
                  </a:txBody>
                  <a:tcPr marL="73152" marR="54864" marT="18288" marB="18288" anchor="ctr">
                    <a:solidFill>
                      <a:srgbClr val="161B22"/>
                    </a:solidFill>
                  </a:tcPr>
                </a:tc>
              </a:tr>
              <a:tr h="310896">
                <a:tc>
                  <a:txBody>
                    <a:bodyPr/>
                    <a:lstStyle/>
                    <a:p>
                      <a:pPr>
                        <a:defRPr sz="1300" b="0">
                          <a:solidFill>
                            <a:srgbClr val="E6EDF3"/>
                          </a:solidFill>
                        </a:defRPr>
                      </a:pPr>
                      <a:r>
                        <a:t>(c)</a:t>
                      </a:r>
                    </a:p>
                  </a:txBody>
                  <a:tcPr marL="73152" marR="54864" marT="18288" marB="18288" anchor="ctr">
                    <a:solidFill>
                      <a:srgbClr val="161B22"/>
                    </a:solidFill>
                  </a:tcPr>
                </a:tc>
                <a:tc>
                  <a:txBody>
                    <a:bodyPr/>
                    <a:lstStyle/>
                    <a:p>
                      <a:pPr>
                        <a:defRPr sz="1300" b="0">
                          <a:solidFill>
                            <a:srgbClr val="E6EDF3"/>
                          </a:solidFill>
                        </a:defRPr>
                      </a:pPr>
                      <a:r>
                        <a:t>NXDOMAIN ratio</a:t>
                      </a:r>
                    </a:p>
                  </a:txBody>
                  <a:tcPr marL="73152" marR="54864" marT="18288" marB="18288" anchor="ctr">
                    <a:solidFill>
                      <a:srgbClr val="161B22"/>
                    </a:solidFill>
                  </a:tcPr>
                </a:tc>
                <a:tc>
                  <a:txBody>
                    <a:bodyPr/>
                    <a:lstStyle/>
                    <a:p>
                      <a:pPr>
                        <a:defRPr sz="1300" b="0">
                          <a:solidFill>
                            <a:srgbClr val="E6EDF3"/>
                          </a:solidFill>
                        </a:defRPr>
                      </a:pPr>
                      <a:r>
                        <a:t>RCODE lives in the DNS response header, which the diode never delivers</a:t>
                      </a:r>
                    </a:p>
                  </a:txBody>
                  <a:tcPr marL="73152" marR="54864" marT="18288" marB="18288" anchor="ctr">
                    <a:solidFill>
                      <a:srgbClr val="161B22"/>
                    </a:solidFill>
                  </a:tcPr>
                </a:tc>
              </a:tr>
              <a:tr h="310896">
                <a:tc>
                  <a:txBody>
                    <a:bodyPr/>
                    <a:lstStyle/>
                    <a:p>
                      <a:pPr>
                        <a:defRPr sz="1300" b="0">
                          <a:solidFill>
                            <a:srgbClr val="E6EDF3"/>
                          </a:solidFill>
                        </a:defRPr>
                      </a:pPr>
                      <a:r>
                        <a:t>(f)</a:t>
                      </a:r>
                    </a:p>
                  </a:txBody>
                  <a:tcPr marL="73152" marR="54864" marT="18288" marB="18288" anchor="ctr">
                    <a:solidFill>
                      <a:srgbClr val="161B22"/>
                    </a:solidFill>
                  </a:tcPr>
                </a:tc>
                <a:tc>
                  <a:txBody>
                    <a:bodyPr/>
                    <a:lstStyle/>
                    <a:p>
                      <a:pPr>
                        <a:defRPr sz="1300" b="0">
                          <a:solidFill>
                            <a:srgbClr val="E6EDF3"/>
                          </a:solidFill>
                        </a:defRPr>
                      </a:pPr>
                      <a:r>
                        <a:t>outbound-to-inbound byte ratio</a:t>
                      </a:r>
                    </a:p>
                  </a:txBody>
                  <a:tcPr marL="73152" marR="54864" marT="18288" marB="18288" anchor="ctr">
                    <a:solidFill>
                      <a:srgbClr val="161B22"/>
                    </a:solidFill>
                  </a:tcPr>
                </a:tc>
                <a:tc>
                  <a:txBody>
                    <a:bodyPr/>
                    <a:lstStyle/>
                    <a:p>
                      <a:pPr>
                        <a:defRPr sz="1300" b="0">
                          <a:solidFill>
                            <a:srgbClr val="E6EDF3"/>
                          </a:solidFill>
                        </a:defRPr>
                      </a:pPr>
                      <a:r>
                        <a:t>the inbound half is never seen, so the ratio has no denominator</a:t>
                      </a:r>
                    </a:p>
                  </a:txBody>
                  <a:tcPr marL="73152" marR="54864" marT="18288" marB="18288" anchor="ctr">
                    <a:solidFill>
                      <a:srgbClr val="161B22"/>
                    </a:solidFill>
                  </a:tcPr>
                </a:tc>
              </a:tr>
            </a:tbl>
          </a:graphicData>
        </a:graphic>
      </p:graphicFrame>
      <p:sp>
        <p:nvSpPr>
          <p:cNvPr id="5" name="Rounded Rectangle 4"/>
          <p:cNvSpPr/>
          <p:nvPr/>
        </p:nvSpPr>
        <p:spPr>
          <a:xfrm>
            <a:off x="502920" y="4892040"/>
            <a:ext cx="11185855" cy="868680"/>
          </a:xfrm>
          <a:prstGeom prst="roundRect">
            <a:avLst/>
          </a:prstGeom>
          <a:solidFill>
            <a:srgbClr val="1A160E"/>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4983479"/>
            <a:ext cx="10820095" cy="685800"/>
          </a:xfrm>
          <a:prstGeom prst="rect">
            <a:avLst/>
          </a:prstGeom>
          <a:noFill/>
        </p:spPr>
        <p:txBody>
          <a:bodyPr wrap="square">
            <a:spAutoFit/>
          </a:bodyPr>
          <a:lstStyle/>
          <a:p>
            <a:pPr>
              <a:defRPr sz="1500" i="1">
                <a:solidFill>
                  <a:srgbClr val="3FB950"/>
                </a:solidFill>
              </a:defRPr>
            </a:pPr>
            <a:r>
              <a:t>“Five of the features the problem statement asks us to implement are made impossible by the problem statement’s own first constraint. That is not our limitation — it is the geometry of a diode. A detector that reads one anyway does not fail loudly, it silently produces garbage, so we made the contract enforceable rather than descriptive.”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Where a feature is impossible, we built the closest observable substitute</a:t>
            </a:r>
          </a:p>
          <a:p>
            <a:pPr>
              <a:defRPr sz="1400">
                <a:solidFill>
                  <a:srgbClr val="9DA5B0"/>
                </a:solidFill>
              </a:defRPr>
            </a:pPr>
            <a:r>
              <a:t>and put the substitute’s arithmetic on the alert so it can be audited</a:t>
            </a:r>
          </a:p>
        </p:txBody>
      </p:sp>
      <p:sp>
        <p:nvSpPr>
          <p:cNvPr id="4" name="TextBox 3"/>
          <p:cNvSpPr txBox="1"/>
          <p:nvPr/>
        </p:nvSpPr>
        <p:spPr>
          <a:xfrm>
            <a:off x="502920" y="1234440"/>
            <a:ext cx="11185855" cy="5303520"/>
          </a:xfrm>
          <a:prstGeom prst="rect">
            <a:avLst/>
          </a:prstGeom>
          <a:noFill/>
        </p:spPr>
        <p:txBody>
          <a:bodyPr wrap="square">
            <a:spAutoFit/>
          </a:bodyPr>
          <a:lstStyle/>
          <a:p>
            <a:pPr>
              <a:spcAft>
                <a:spcPts val="600"/>
              </a:spcAft>
              <a:defRPr sz="1500">
                <a:solidFill>
                  <a:srgbClr val="58A6FF"/>
                </a:solidFill>
              </a:defRPr>
            </a:pPr>
            <a:r>
              <a:t>Exfiltration — the ratio has no denominator one-way. Instead:</a:t>
            </a:r>
          </a:p>
          <a:p>
            <a:pPr lvl="1">
              <a:spcAft>
                <a:spcPts val="600"/>
              </a:spcAft>
              <a:defRPr sz="1300">
                <a:solidFill>
                  <a:srgbClr val="E6EDF3"/>
                </a:solidFill>
              </a:defRPr>
            </a:pPr>
            <a:r>
              <a:t>cumulative bytes to a (src, dst) pair the source has never spoken to, and</a:t>
            </a:r>
          </a:p>
          <a:p>
            <a:pPr lvl="1">
              <a:spcAft>
                <a:spcPts val="600"/>
              </a:spcAft>
              <a:defRPr sz="1300">
                <a:solidFill>
                  <a:srgbClr val="E6EDF3"/>
                </a:solidFill>
              </a:defRPr>
            </a:pPr>
            <a:r>
              <a:t>that total against the source’s own median bytes per window, with a pair-age guard so a long transfer cannot slip under the bar in later windows.</a:t>
            </a:r>
          </a:p>
          <a:p>
            <a:pPr lvl="1">
              <a:spcAft>
                <a:spcPts val="600"/>
              </a:spcAft>
              <a:defRPr sz="1300">
                <a:solidFill>
                  <a:srgbClr val="9DA5B0"/>
                </a:solidFill>
              </a:defRPr>
            </a:pPr>
            <a:r>
              <a:t>Every exfil alert carries bytes_to_new_dst, src_baseline_bytes_median, ratio_vs_baseline, pair_age_windows.  (core/detectors.py → ExfilDetector)</a:t>
            </a:r>
          </a:p>
          <a:p>
            <a:pPr>
              <a:spcAft>
                <a:spcPts val="600"/>
              </a:spcAft>
              <a:defRPr sz="1500">
                <a:solidFill>
                  <a:srgbClr val="58A6FF"/>
                </a:solidFill>
              </a:defRPr>
            </a:pPr>
            <a:r>
              <a:t>DGA — the standard pipeline counts NXDOMAINs, which is a response. Instead:</a:t>
            </a:r>
          </a:p>
          <a:p>
            <a:pPr lvl="1">
              <a:spcAft>
                <a:spcPts val="600"/>
              </a:spcAft>
              <a:defRPr sz="1300">
                <a:solidFill>
                  <a:srgbClr val="E6EDF3"/>
                </a:solidFill>
              </a:defRPr>
            </a:pPr>
            <a:r>
              <a:t>detect from the query alone: character entropy + lexical profile + a streak requirement. The alert states the limitation in its own evidence.</a:t>
            </a:r>
          </a:p>
          <a:p>
            <a:pPr>
              <a:spcAft>
                <a:spcPts val="600"/>
              </a:spcAft>
              <a:defRPr sz="1500">
                <a:solidFill>
                  <a:srgbClr val="58A6FF"/>
                </a:solidFill>
              </a:defRPr>
            </a:pPr>
            <a:r>
              <a:t>TLS — JA3S and server-side fields are off the table. Instead:</a:t>
            </a:r>
          </a:p>
          <a:p>
            <a:pPr lvl="1">
              <a:spcAft>
                <a:spcPts val="600"/>
              </a:spcAft>
              <a:defRPr sz="1300">
                <a:solidFill>
                  <a:srgbClr val="E6EDF3"/>
                </a:solidFill>
              </a:defRPr>
            </a:pPr>
            <a:r>
              <a:t>JA4 (client) with JA3 alongside; every alert states that server-side fields are invisible. A wrong fingerprint is worse than no fingerprint, so we wrote an ACK-less sequence tracker for retransmits and gaps.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The one place the cryptography hands you the metadata for free</a:t>
            </a:r>
          </a:p>
          <a:p>
            <a:pPr>
              <a:defRPr sz="1400">
                <a:solidFill>
                  <a:srgbClr val="9DA5B0"/>
                </a:solidFill>
              </a:defRPr>
            </a:pPr>
            <a:r>
              <a:t>QUIC Initial packets are decryptable with no secret at all</a:t>
            </a:r>
          </a:p>
        </p:txBody>
      </p:sp>
      <p:sp>
        <p:nvSpPr>
          <p:cNvPr id="4" name="TextBox 3"/>
          <p:cNvSpPr txBox="1"/>
          <p:nvPr/>
        </p:nvSpPr>
        <p:spPr>
          <a:xfrm>
            <a:off x="502920" y="1234440"/>
            <a:ext cx="11185855" cy="5303520"/>
          </a:xfrm>
          <a:prstGeom prst="rect">
            <a:avLst/>
          </a:prstGeom>
          <a:noFill/>
        </p:spPr>
        <p:txBody>
          <a:bodyPr wrap="square">
            <a:spAutoFit/>
          </a:bodyPr>
          <a:lstStyle/>
          <a:p>
            <a:pPr>
              <a:spcAft>
                <a:spcPts val="600"/>
              </a:spcAft>
              <a:defRPr sz="1600">
                <a:solidFill>
                  <a:srgbClr val="E6EDF3"/>
                </a:solidFill>
              </a:defRPr>
            </a:pPr>
            <a:r>
              <a:t>RFC 9001 derives the QUIC Initial keys from a public version salt plus the connection ID — no secret, no key material, no certificate.</a:t>
            </a:r>
          </a:p>
          <a:p>
            <a:pPr>
              <a:spcAft>
                <a:spcPts val="600"/>
              </a:spcAft>
              <a:defRPr sz="1600">
                <a:solidFill>
                  <a:srgbClr val="E6EDF3"/>
                </a:solidFill>
              </a:defRPr>
            </a:pPr>
            <a:r>
              <a:t>So we recover ClientHello metadata from QUIC on a one-way feed, where TLS server fingerprints are structurally impossible.</a:t>
            </a:r>
          </a:p>
          <a:p>
            <a:pPr>
              <a:spcAft>
                <a:spcPts val="600"/>
              </a:spcAft>
              <a:defRPr sz="1600">
                <a:solidFill>
                  <a:srgbClr val="58A6FF"/>
                </a:solidFill>
              </a:defRPr>
            </a:pPr>
            <a:r>
              <a:t>We proved it rather than asserted it:</a:t>
            </a:r>
          </a:p>
          <a:p>
            <a:pPr lvl="1">
              <a:spcAft>
                <a:spcPts val="600"/>
              </a:spcAft>
              <a:defRPr sz="1400">
                <a:solidFill>
                  <a:srgbClr val="E6EDF3"/>
                </a:solidFill>
              </a:defRPr>
            </a:pPr>
            <a:r>
              <a:t>RFC 9001 Appendix A.1/A.2 key and packet vectors validate the parse (tests/test_quic.py); QUIC uses JA4 prefix q, TLS uses t.</a:t>
            </a:r>
          </a:p>
          <a:p>
            <a:pPr lvl="1">
              <a:spcAft>
                <a:spcPts val="600"/>
              </a:spcAft>
              <a:defRPr sz="1400">
                <a:solidFill>
                  <a:srgbClr val="E6EDF3"/>
                </a:solidFill>
              </a:defRPr>
            </a:pPr>
            <a:r>
              <a:t>Tampered packets and unsupported versions are rejected.</a:t>
            </a:r>
          </a:p>
          <a:p>
            <a:pPr>
              <a:spcAft>
                <a:spcPts val="600"/>
              </a:spcAft>
              <a:defRPr sz="1600">
                <a:solidFill>
                  <a:srgbClr val="9DA5B0"/>
                </a:solidFill>
              </a:defRPr>
            </a:pPr>
            <a:r>
              <a:t>This is not “decryption” of payload: the Initial is decryptable by protocol design, with public inputs. No payload content is ever read.</a:t>
            </a:r>
          </a:p>
        </p:txBody>
      </p:sp>
      <p:sp>
        <p:nvSpPr>
          <p:cNvPr id="5" name="Rounded Rectangle 4"/>
          <p:cNvSpPr/>
          <p:nvPr/>
        </p:nvSpPr>
        <p:spPr>
          <a:xfrm>
            <a:off x="502920" y="5394960"/>
            <a:ext cx="11185855" cy="868680"/>
          </a:xfrm>
          <a:prstGeom prst="roundRect">
            <a:avLst/>
          </a:prstGeom>
          <a:solidFill>
            <a:srgbClr val="1A160E"/>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486400"/>
            <a:ext cx="10820095" cy="685800"/>
          </a:xfrm>
          <a:prstGeom prst="rect">
            <a:avLst/>
          </a:prstGeom>
          <a:noFill/>
        </p:spPr>
        <p:txBody>
          <a:bodyPr wrap="square">
            <a:spAutoFit/>
          </a:bodyPr>
          <a:lstStyle/>
          <a:p>
            <a:pPr>
              <a:defRPr sz="1500" i="1">
                <a:solidFill>
                  <a:srgbClr val="3FB950"/>
                </a:solidFill>
              </a:defRPr>
            </a:pPr>
            <a:r>
              <a:t>Judge follow-up to prep: “isn’t that decryption?” → No payload is decrypted. It is the one place the protocol design exposes the metadata for free.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Streaming, timing and replay reproducibility</a:t>
            </a:r>
          </a:p>
          <a:p>
            <a:pPr>
              <a:defRPr sz="1400">
                <a:solidFill>
                  <a:srgbClr val="9DA5B0"/>
                </a:solidFill>
              </a:defRPr>
            </a:pPr>
            <a:r>
              <a:t>Two constraints that eliminate most submissions</a:t>
            </a:r>
          </a:p>
        </p:txBody>
      </p:sp>
      <p:sp>
        <p:nvSpPr>
          <p:cNvPr id="4" name="Rounded Rectangle 3"/>
          <p:cNvSpPr/>
          <p:nvPr/>
        </p:nvSpPr>
        <p:spPr>
          <a:xfrm>
            <a:off x="502920" y="1389888"/>
            <a:ext cx="2029968" cy="1307592"/>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89888"/>
            <a:ext cx="50292" cy="13075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481328"/>
            <a:ext cx="1709928" cy="1161288"/>
          </a:xfrm>
          <a:prstGeom prst="rect">
            <a:avLst/>
          </a:prstGeom>
          <a:noFill/>
        </p:spPr>
        <p:txBody>
          <a:bodyPr wrap="square" lIns="0" rIns="0" tIns="0" bIns="0">
            <a:spAutoFit/>
          </a:bodyPr>
          <a:lstStyle/>
          <a:p>
            <a:pPr>
              <a:spcAft>
                <a:spcPts val="400"/>
              </a:spcAft>
              <a:defRPr sz="900" b="1">
                <a:solidFill>
                  <a:srgbClr val="58A6FF"/>
                </a:solidFill>
              </a:defRPr>
            </a:pPr>
            <a:r>
              <a:t>INGEST</a:t>
            </a:r>
          </a:p>
          <a:p>
            <a:pPr>
              <a:spcAft>
                <a:spcPts val="300"/>
              </a:spcAft>
              <a:defRPr sz="1700" b="1">
                <a:solidFill>
                  <a:srgbClr val="E6EDF3"/>
                </a:solidFill>
              </a:defRPr>
            </a:pPr>
            <a:r>
              <a:t>One-way packets</a:t>
            </a:r>
          </a:p>
          <a:p>
            <a:pPr>
              <a:defRPr sz="1100">
                <a:solidFill>
                  <a:srgbClr val="9DA5B0"/>
                </a:solidFill>
              </a:defRPr>
            </a:pPr>
            <a:r>
              <a:t>Capture or pcap stream</a:t>
            </a:r>
          </a:p>
        </p:txBody>
      </p:sp>
      <p:sp>
        <p:nvSpPr>
          <p:cNvPr id="7" name="TextBox 6"/>
          <p:cNvSpPr txBox="1"/>
          <p:nvPr/>
        </p:nvSpPr>
        <p:spPr>
          <a:xfrm>
            <a:off x="2551176" y="1828800"/>
            <a:ext cx="438912" cy="384048"/>
          </a:xfrm>
          <a:prstGeom prst="rect">
            <a:avLst/>
          </a:prstGeom>
          <a:noFill/>
        </p:spPr>
        <p:txBody>
          <a:bodyPr wrap="none">
            <a:spAutoFit/>
          </a:bodyPr>
          <a:lstStyle/>
          <a:p>
            <a:pPr algn="ctr">
              <a:defRPr sz="2000" b="1">
                <a:solidFill>
                  <a:srgbClr val="58A6FF"/>
                </a:solidFill>
              </a:defRPr>
            </a:pPr>
            <a:r>
              <a:t>→</a:t>
            </a:r>
          </a:p>
        </p:txBody>
      </p:sp>
      <p:sp>
        <p:nvSpPr>
          <p:cNvPr id="8" name="Rounded Rectangle 7"/>
          <p:cNvSpPr/>
          <p:nvPr/>
        </p:nvSpPr>
        <p:spPr>
          <a:xfrm>
            <a:off x="2788920" y="1389888"/>
            <a:ext cx="2029968" cy="1307592"/>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88920" y="1389888"/>
            <a:ext cx="50292" cy="13075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1481328"/>
            <a:ext cx="1709928" cy="1161288"/>
          </a:xfrm>
          <a:prstGeom prst="rect">
            <a:avLst/>
          </a:prstGeom>
          <a:noFill/>
        </p:spPr>
        <p:txBody>
          <a:bodyPr wrap="square" lIns="0" rIns="0" tIns="0" bIns="0">
            <a:spAutoFit/>
          </a:bodyPr>
          <a:lstStyle/>
          <a:p>
            <a:pPr>
              <a:spcAft>
                <a:spcPts val="400"/>
              </a:spcAft>
              <a:defRPr sz="900" b="1">
                <a:solidFill>
                  <a:srgbClr val="3FB950"/>
                </a:solidFill>
              </a:defRPr>
            </a:pPr>
            <a:r>
              <a:t>PARSE</a:t>
            </a:r>
          </a:p>
          <a:p>
            <a:pPr>
              <a:spcAft>
                <a:spcPts val="300"/>
              </a:spcAft>
              <a:defRPr sz="1700" b="1">
                <a:solidFill>
                  <a:srgbClr val="E6EDF3"/>
                </a:solidFill>
              </a:defRPr>
            </a:pPr>
            <a:r>
              <a:t>Decode frames</a:t>
            </a:r>
          </a:p>
          <a:p>
            <a:pPr>
              <a:defRPr sz="1100">
                <a:solidFill>
                  <a:srgbClr val="9DA5B0"/>
                </a:solidFill>
              </a:defRPr>
            </a:pPr>
            <a:r>
              <a:t>Count malformed / sampled</a:t>
            </a:r>
          </a:p>
        </p:txBody>
      </p:sp>
      <p:sp>
        <p:nvSpPr>
          <p:cNvPr id="11" name="TextBox 10"/>
          <p:cNvSpPr txBox="1"/>
          <p:nvPr/>
        </p:nvSpPr>
        <p:spPr>
          <a:xfrm>
            <a:off x="4837176" y="1828800"/>
            <a:ext cx="438912" cy="384048"/>
          </a:xfrm>
          <a:prstGeom prst="rect">
            <a:avLst/>
          </a:prstGeom>
          <a:noFill/>
        </p:spPr>
        <p:txBody>
          <a:bodyPr wrap="none">
            <a:spAutoFit/>
          </a:bodyPr>
          <a:lstStyle/>
          <a:p>
            <a:pPr algn="ctr">
              <a:defRPr sz="2000" b="1">
                <a:solidFill>
                  <a:srgbClr val="58A6FF"/>
                </a:solidFill>
              </a:defRPr>
            </a:pPr>
            <a:r>
              <a:t>→</a:t>
            </a:r>
          </a:p>
        </p:txBody>
      </p:sp>
      <p:sp>
        <p:nvSpPr>
          <p:cNvPr id="12" name="Rounded Rectangle 11"/>
          <p:cNvSpPr/>
          <p:nvPr/>
        </p:nvSpPr>
        <p:spPr>
          <a:xfrm>
            <a:off x="5074920" y="1389888"/>
            <a:ext cx="2029968" cy="1307592"/>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74920" y="1389888"/>
            <a:ext cx="50292" cy="1307592"/>
          </a:xfrm>
          <a:prstGeom prst="rect">
            <a:avLst/>
          </a:prstGeom>
          <a:solidFill>
            <a:srgbClr val="D299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1481328"/>
            <a:ext cx="1709928" cy="1161288"/>
          </a:xfrm>
          <a:prstGeom prst="rect">
            <a:avLst/>
          </a:prstGeom>
          <a:noFill/>
        </p:spPr>
        <p:txBody>
          <a:bodyPr wrap="square" lIns="0" rIns="0" tIns="0" bIns="0">
            <a:spAutoFit/>
          </a:bodyPr>
          <a:lstStyle/>
          <a:p>
            <a:pPr>
              <a:spcAft>
                <a:spcPts val="400"/>
              </a:spcAft>
              <a:defRPr sz="900" b="1">
                <a:solidFill>
                  <a:srgbClr val="D29922"/>
                </a:solidFill>
              </a:defRPr>
            </a:pPr>
            <a:r>
              <a:t>ASSEMBLE</a:t>
            </a:r>
          </a:p>
          <a:p>
            <a:pPr>
              <a:spcAft>
                <a:spcPts val="300"/>
              </a:spcAft>
              <a:defRPr sz="1700" b="1">
                <a:solidFill>
                  <a:srgbClr val="E6EDF3"/>
                </a:solidFill>
              </a:defRPr>
            </a:pPr>
            <a:r>
              <a:t>Flows + windows</a:t>
            </a:r>
          </a:p>
          <a:p>
            <a:pPr>
              <a:defRPr sz="1100">
                <a:solidFill>
                  <a:srgbClr val="9DA5B0"/>
                </a:solidFill>
              </a:defRPr>
            </a:pPr>
            <a:r>
              <a:t>2 s idle · 10 s window</a:t>
            </a:r>
          </a:p>
        </p:txBody>
      </p:sp>
      <p:sp>
        <p:nvSpPr>
          <p:cNvPr id="15" name="TextBox 14"/>
          <p:cNvSpPr txBox="1"/>
          <p:nvPr/>
        </p:nvSpPr>
        <p:spPr>
          <a:xfrm>
            <a:off x="7123176" y="1828800"/>
            <a:ext cx="438912" cy="384048"/>
          </a:xfrm>
          <a:prstGeom prst="rect">
            <a:avLst/>
          </a:prstGeom>
          <a:noFill/>
        </p:spPr>
        <p:txBody>
          <a:bodyPr wrap="none">
            <a:spAutoFit/>
          </a:bodyPr>
          <a:lstStyle/>
          <a:p>
            <a:pPr algn="ctr">
              <a:defRPr sz="2000" b="1">
                <a:solidFill>
                  <a:srgbClr val="58A6FF"/>
                </a:solidFill>
              </a:defRPr>
            </a:pPr>
            <a:r>
              <a:t>→</a:t>
            </a:r>
          </a:p>
        </p:txBody>
      </p:sp>
      <p:sp>
        <p:nvSpPr>
          <p:cNvPr id="16" name="Rounded Rectangle 15"/>
          <p:cNvSpPr/>
          <p:nvPr/>
        </p:nvSpPr>
        <p:spPr>
          <a:xfrm>
            <a:off x="7360920" y="1389888"/>
            <a:ext cx="2029968" cy="1307592"/>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0920" y="1389888"/>
            <a:ext cx="50292" cy="13075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43800" y="1481328"/>
            <a:ext cx="1709928" cy="1161288"/>
          </a:xfrm>
          <a:prstGeom prst="rect">
            <a:avLst/>
          </a:prstGeom>
          <a:noFill/>
        </p:spPr>
        <p:txBody>
          <a:bodyPr wrap="square" lIns="0" rIns="0" tIns="0" bIns="0">
            <a:spAutoFit/>
          </a:bodyPr>
          <a:lstStyle/>
          <a:p>
            <a:pPr>
              <a:spcAft>
                <a:spcPts val="400"/>
              </a:spcAft>
              <a:defRPr sz="900" b="1">
                <a:solidFill>
                  <a:srgbClr val="58A6FF"/>
                </a:solidFill>
              </a:defRPr>
            </a:pPr>
            <a:r>
              <a:t>DETECT</a:t>
            </a:r>
          </a:p>
          <a:p>
            <a:pPr>
              <a:spcAft>
                <a:spcPts val="300"/>
              </a:spcAft>
              <a:defRPr sz="1700" b="1">
                <a:solidFill>
                  <a:srgbClr val="E6EDF3"/>
                </a:solidFill>
              </a:defRPr>
            </a:pPr>
            <a:r>
              <a:t>Rules + models</a:t>
            </a:r>
          </a:p>
          <a:p>
            <a:pPr>
              <a:defRPr sz="1100">
                <a:solidFill>
                  <a:srgbClr val="9DA5B0"/>
                </a:solidFill>
              </a:defRPr>
            </a:pPr>
            <a:r>
              <a:t>Observable fields only</a:t>
            </a:r>
          </a:p>
        </p:txBody>
      </p:sp>
      <p:sp>
        <p:nvSpPr>
          <p:cNvPr id="19" name="TextBox 18"/>
          <p:cNvSpPr txBox="1"/>
          <p:nvPr/>
        </p:nvSpPr>
        <p:spPr>
          <a:xfrm>
            <a:off x="9409176" y="1828800"/>
            <a:ext cx="438912" cy="384048"/>
          </a:xfrm>
          <a:prstGeom prst="rect">
            <a:avLst/>
          </a:prstGeom>
          <a:noFill/>
        </p:spPr>
        <p:txBody>
          <a:bodyPr wrap="none">
            <a:spAutoFit/>
          </a:bodyPr>
          <a:lstStyle/>
          <a:p>
            <a:pPr algn="ctr">
              <a:defRPr sz="2000" b="1">
                <a:solidFill>
                  <a:srgbClr val="58A6FF"/>
                </a:solidFill>
              </a:defRPr>
            </a:pPr>
            <a:r>
              <a:t>→</a:t>
            </a:r>
          </a:p>
        </p:txBody>
      </p:sp>
      <p:sp>
        <p:nvSpPr>
          <p:cNvPr id="20" name="Rounded Rectangle 19"/>
          <p:cNvSpPr/>
          <p:nvPr/>
        </p:nvSpPr>
        <p:spPr>
          <a:xfrm>
            <a:off x="9646920" y="1389888"/>
            <a:ext cx="2029968" cy="1307592"/>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646920" y="1389888"/>
            <a:ext cx="50292" cy="13075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29800" y="1481328"/>
            <a:ext cx="1709928" cy="1161288"/>
          </a:xfrm>
          <a:prstGeom prst="rect">
            <a:avLst/>
          </a:prstGeom>
          <a:noFill/>
        </p:spPr>
        <p:txBody>
          <a:bodyPr wrap="square" lIns="0" rIns="0" tIns="0" bIns="0">
            <a:spAutoFit/>
          </a:bodyPr>
          <a:lstStyle/>
          <a:p>
            <a:pPr>
              <a:spcAft>
                <a:spcPts val="400"/>
              </a:spcAft>
              <a:defRPr sz="900" b="1">
                <a:solidFill>
                  <a:srgbClr val="3FB950"/>
                </a:solidFill>
              </a:defRPr>
            </a:pPr>
            <a:r>
              <a:t>PRESENT</a:t>
            </a:r>
          </a:p>
          <a:p>
            <a:pPr>
              <a:spcAft>
                <a:spcPts val="300"/>
              </a:spcAft>
              <a:defRPr sz="1700" b="1">
                <a:solidFill>
                  <a:srgbClr val="E6EDF3"/>
                </a:solidFill>
              </a:defRPr>
            </a:pPr>
            <a:r>
              <a:t>Alert + dashboard</a:t>
            </a:r>
          </a:p>
          <a:p>
            <a:pPr>
              <a:defRPr sz="1100">
                <a:solidFill>
                  <a:srgbClr val="9DA5B0"/>
                </a:solidFill>
              </a:defRPr>
            </a:pPr>
            <a:r>
              <a:t>Record appears as emitted</a:t>
            </a:r>
          </a:p>
        </p:txBody>
      </p:sp>
      <p:sp>
        <p:nvSpPr>
          <p:cNvPr id="23" name="Rounded Rectangle 22"/>
          <p:cNvSpPr/>
          <p:nvPr/>
        </p:nvSpPr>
        <p:spPr>
          <a:xfrm>
            <a:off x="731520" y="3154680"/>
            <a:ext cx="5166360" cy="2148840"/>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 y="3154680"/>
            <a:ext cx="50292" cy="2148840"/>
          </a:xfrm>
          <a:prstGeom prst="rect">
            <a:avLst/>
          </a:prstGeom>
          <a:solidFill>
            <a:srgbClr val="D299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3246120"/>
            <a:ext cx="4846320" cy="2002536"/>
          </a:xfrm>
          <a:prstGeom prst="rect">
            <a:avLst/>
          </a:prstGeom>
          <a:noFill/>
        </p:spPr>
        <p:txBody>
          <a:bodyPr wrap="square" lIns="0" rIns="0" tIns="0" bIns="0">
            <a:spAutoFit/>
          </a:bodyPr>
          <a:lstStyle/>
          <a:p>
            <a:pPr>
              <a:spcAft>
                <a:spcPts val="400"/>
              </a:spcAft>
              <a:defRPr sz="900" b="1">
                <a:solidFill>
                  <a:srgbClr val="D29922"/>
                </a:solidFill>
              </a:defRPr>
            </a:pPr>
            <a:r>
              <a:t>TIMING + SENSOR</a:t>
            </a:r>
          </a:p>
          <a:p>
            <a:pPr>
              <a:spcAft>
                <a:spcPts val="300"/>
              </a:spcAft>
              <a:defRPr sz="1700" b="1">
                <a:solidFill>
                  <a:srgbClr val="E6EDF3"/>
                </a:solidFill>
              </a:defRPr>
            </a:pPr>
            <a:r>
              <a:t>The clock closes the window</a:t>
            </a:r>
          </a:p>
          <a:p>
            <a:pPr>
              <a:defRPr sz="1100">
                <a:solidFill>
                  <a:srgbClr val="9DA5B0"/>
                </a:solidFill>
              </a:defRPr>
            </a:pPr>
            <a:r>
              <a:t>The ≤2 s flow-idle timeout and ≤10 s window set the processing bounds; they are not a measured p95 latency claim. One-second health heartbeats continue while the source is idle. Packet-stream kernel drops stay unknown.</a:t>
            </a:r>
          </a:p>
        </p:txBody>
      </p:sp>
      <p:sp>
        <p:nvSpPr>
          <p:cNvPr id="26" name="Rounded Rectangle 25"/>
          <p:cNvSpPr/>
          <p:nvPr/>
        </p:nvSpPr>
        <p:spPr>
          <a:xfrm>
            <a:off x="6263640" y="3154680"/>
            <a:ext cx="5166360" cy="2148840"/>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63640" y="3154680"/>
            <a:ext cx="50292" cy="2148840"/>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3246120"/>
            <a:ext cx="4846320" cy="2002536"/>
          </a:xfrm>
          <a:prstGeom prst="rect">
            <a:avLst/>
          </a:prstGeom>
          <a:noFill/>
        </p:spPr>
        <p:txBody>
          <a:bodyPr wrap="square" lIns="0" rIns="0" tIns="0" bIns="0">
            <a:spAutoFit/>
          </a:bodyPr>
          <a:lstStyle/>
          <a:p>
            <a:pPr>
              <a:spcAft>
                <a:spcPts val="400"/>
              </a:spcAft>
              <a:defRPr sz="900" b="1">
                <a:solidFill>
                  <a:srgbClr val="3FB950"/>
                </a:solidFill>
              </a:defRPr>
            </a:pPr>
            <a:r>
              <a:t>REPLAY + BACKEND PARITY</a:t>
            </a:r>
          </a:p>
          <a:p>
            <a:pPr>
              <a:spcAft>
                <a:spcPts val="300"/>
              </a:spcAft>
              <a:defRPr sz="1700" b="1">
                <a:solidFill>
                  <a:srgbClr val="E6EDF3"/>
                </a:solidFill>
              </a:defRPr>
            </a:pPr>
            <a:r>
              <a:t>Current archive: 45 / 67</a:t>
            </a:r>
          </a:p>
          <a:p>
            <a:pPr>
              <a:defRPr sz="1100">
                <a:solidFill>
                  <a:srgbClr val="9DA5B0"/>
                </a:solidFill>
              </a:defRPr>
            </a:pPr>
            <a:r>
              <a:t>14,049-packet capture; preserved refs remain 46 / 68. One invalid synthetic-QUIC tls_known_malware record was removed; fixture migration is pending. Current dpkt and Scapy alert records match. This is replay evidence, not chain of custody.</a:t>
            </a:r>
          </a:p>
        </p:txBody>
      </p:sp>
      <p:sp>
        <p:nvSpPr>
          <p:cNvPr id="29" name="Rounded Rectangle 28"/>
          <p:cNvSpPr/>
          <p:nvPr/>
        </p:nvSpPr>
        <p:spPr>
          <a:xfrm>
            <a:off x="1554480" y="5650992"/>
            <a:ext cx="9052560" cy="484632"/>
          </a:xfrm>
          <a:prstGeom prst="roundRect">
            <a:avLst/>
          </a:prstGeom>
          <a:solidFill>
            <a:srgbClr val="141A24"/>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737360" y="5733288"/>
            <a:ext cx="8686800" cy="274320"/>
          </a:xfrm>
          <a:prstGeom prst="rect">
            <a:avLst/>
          </a:prstGeom>
          <a:noFill/>
        </p:spPr>
        <p:txBody>
          <a:bodyPr wrap="none">
            <a:spAutoFit/>
          </a:bodyPr>
          <a:lstStyle/>
          <a:p>
            <a:pPr algn="ctr">
              <a:defRPr sz="1200">
                <a:solidFill>
                  <a:srgbClr val="9DA5B0"/>
                </a:solidFill>
              </a:defRPr>
            </a:pPr>
            <a:r>
              <a:t>Paced FIFO smoke: alerts observed while replay writer and analysis pipeline are still active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DEMO 01 · Open the live overview</a:t>
            </a:r>
          </a:p>
          <a:p>
            <a:pPr>
              <a:defRPr sz="1400">
                <a:solidFill>
                  <a:srgbClr val="9DA5B0"/>
                </a:solidFill>
              </a:defRPr>
            </a:pPr>
            <a:r>
              <a:t>Active replay · the alert queue and sensor status update as traffic arrives</a:t>
            </a:r>
          </a:p>
        </p:txBody>
      </p:sp>
      <p:pic>
        <p:nvPicPr>
          <p:cNvPr id="4" name="Picture 3" descr="dashboard-live-demo.png"/>
          <p:cNvPicPr>
            <a:picLocks noChangeAspect="1"/>
          </p:cNvPicPr>
          <p:nvPr/>
        </p:nvPicPr>
        <p:blipFill>
          <a:blip r:embed="rId2"/>
          <a:stretch>
            <a:fillRect/>
          </a:stretch>
        </p:blipFill>
        <p:spPr>
          <a:xfrm>
            <a:off x="502920" y="1298448"/>
            <a:ext cx="6720840" cy="4667250"/>
          </a:xfrm>
          <a:prstGeom prst="rect">
            <a:avLst/>
          </a:prstGeom>
        </p:spPr>
      </p:pic>
      <p:sp>
        <p:nvSpPr>
          <p:cNvPr id="5" name="Rounded Rectangle 4"/>
          <p:cNvSpPr/>
          <p:nvPr/>
        </p:nvSpPr>
        <p:spPr>
          <a:xfrm>
            <a:off x="7498079" y="1417320"/>
            <a:ext cx="4160520" cy="1298448"/>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79" y="1417320"/>
            <a:ext cx="50292" cy="1298448"/>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59" y="1508760"/>
            <a:ext cx="3840480" cy="1152144"/>
          </a:xfrm>
          <a:prstGeom prst="rect">
            <a:avLst/>
          </a:prstGeom>
          <a:noFill/>
        </p:spPr>
        <p:txBody>
          <a:bodyPr wrap="square" lIns="0" rIns="0" tIns="0" bIns="0">
            <a:spAutoFit/>
          </a:bodyPr>
          <a:lstStyle/>
          <a:p>
            <a:pPr>
              <a:spcAft>
                <a:spcPts val="400"/>
              </a:spcAft>
              <a:defRPr sz="900" b="1">
                <a:solidFill>
                  <a:srgbClr val="3FB950"/>
                </a:solidFill>
              </a:defRPr>
            </a:pPr>
            <a:r>
              <a:t>STREAM</a:t>
            </a:r>
          </a:p>
          <a:p>
            <a:pPr>
              <a:spcAft>
                <a:spcPts val="300"/>
              </a:spcAft>
              <a:defRPr sz="1700" b="1">
                <a:solidFill>
                  <a:srgbClr val="E6EDF3"/>
                </a:solidFill>
              </a:defRPr>
            </a:pPr>
            <a:r>
              <a:t>Alerts arrive during replay</a:t>
            </a:r>
          </a:p>
          <a:p>
            <a:pPr>
              <a:defRPr sz="1100">
                <a:solidFill>
                  <a:srgbClr val="9DA5B0"/>
                </a:solidFill>
              </a:defRPr>
            </a:pPr>
            <a:r>
              <a:t>Dashboard starts first; the pipeline writes each alert as it fires.</a:t>
            </a:r>
          </a:p>
        </p:txBody>
      </p:sp>
      <p:sp>
        <p:nvSpPr>
          <p:cNvPr id="8" name="Rounded Rectangle 7"/>
          <p:cNvSpPr/>
          <p:nvPr/>
        </p:nvSpPr>
        <p:spPr>
          <a:xfrm>
            <a:off x="7498079" y="2971800"/>
            <a:ext cx="4160520" cy="1298448"/>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79" y="2971800"/>
            <a:ext cx="50292" cy="1298448"/>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59" y="3063240"/>
            <a:ext cx="3840480" cy="1152144"/>
          </a:xfrm>
          <a:prstGeom prst="rect">
            <a:avLst/>
          </a:prstGeom>
          <a:noFill/>
        </p:spPr>
        <p:txBody>
          <a:bodyPr wrap="square" lIns="0" rIns="0" tIns="0" bIns="0">
            <a:spAutoFit/>
          </a:bodyPr>
          <a:lstStyle/>
          <a:p>
            <a:pPr>
              <a:spcAft>
                <a:spcPts val="400"/>
              </a:spcAft>
              <a:defRPr sz="900" b="1">
                <a:solidFill>
                  <a:srgbClr val="58A6FF"/>
                </a:solidFill>
              </a:defRPr>
            </a:pPr>
            <a:r>
              <a:t>EVIDENCE</a:t>
            </a:r>
          </a:p>
          <a:p>
            <a:pPr>
              <a:spcAft>
                <a:spcPts val="300"/>
              </a:spcAft>
              <a:defRPr sz="1700" b="1">
                <a:solidFill>
                  <a:srgbClr val="E6EDF3"/>
                </a:solidFill>
              </a:defRPr>
            </a:pPr>
            <a:r>
              <a:t>Counts describe records</a:t>
            </a:r>
          </a:p>
          <a:p>
            <a:pPr>
              <a:defRPr sz="1100">
                <a:solidFill>
                  <a:srgbClr val="9DA5B0"/>
                </a:solidFill>
              </a:defRPr>
            </a:pPr>
            <a:r>
              <a:t>Rule, model and correlation records stay distinct; correlations reuse signals.</a:t>
            </a:r>
          </a:p>
        </p:txBody>
      </p:sp>
      <p:sp>
        <p:nvSpPr>
          <p:cNvPr id="11" name="Rounded Rectangle 10"/>
          <p:cNvSpPr/>
          <p:nvPr/>
        </p:nvSpPr>
        <p:spPr>
          <a:xfrm>
            <a:off x="7498079" y="4526280"/>
            <a:ext cx="4160520" cy="1298448"/>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79" y="4526280"/>
            <a:ext cx="50292" cy="1298448"/>
          </a:xfrm>
          <a:prstGeom prst="rect">
            <a:avLst/>
          </a:prstGeom>
          <a:solidFill>
            <a:srgbClr val="D299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59" y="4617720"/>
            <a:ext cx="3840480" cy="1152144"/>
          </a:xfrm>
          <a:prstGeom prst="rect">
            <a:avLst/>
          </a:prstGeom>
          <a:noFill/>
        </p:spPr>
        <p:txBody>
          <a:bodyPr wrap="square" lIns="0" rIns="0" tIns="0" bIns="0">
            <a:spAutoFit/>
          </a:bodyPr>
          <a:lstStyle/>
          <a:p>
            <a:pPr>
              <a:spcAft>
                <a:spcPts val="400"/>
              </a:spcAft>
              <a:defRPr sz="900" b="1">
                <a:solidFill>
                  <a:srgbClr val="D29922"/>
                </a:solidFill>
              </a:defRPr>
            </a:pPr>
            <a:r>
              <a:t>SENSOR HEALTH</a:t>
            </a:r>
          </a:p>
          <a:p>
            <a:pPr>
              <a:spcAft>
                <a:spcPts val="300"/>
              </a:spcAft>
              <a:defRPr sz="1700" b="1">
                <a:solidFill>
                  <a:srgbClr val="E6EDF3"/>
                </a:solidFill>
              </a:defRPr>
            </a:pPr>
            <a:r>
              <a:t>Measured status stays visible</a:t>
            </a:r>
          </a:p>
          <a:p>
            <a:pPr>
              <a:defRPr sz="1100">
                <a:solidFill>
                  <a:srgbClr val="9DA5B0"/>
                </a:solidFill>
              </a:defRPr>
            </a:pPr>
            <a:r>
              <a:t>Heartbeat, last packet and counts; pcap kernel drops remain unknown.</a:t>
            </a:r>
          </a:p>
        </p:txBody>
      </p:sp>
      <p:sp>
        <p:nvSpPr>
          <p:cNvPr id="14" name="TextBox 13"/>
          <p:cNvSpPr txBox="1"/>
          <p:nvPr/>
        </p:nvSpPr>
        <p:spPr>
          <a:xfrm>
            <a:off x="502920" y="6382512"/>
            <a:ext cx="6766560" cy="237744"/>
          </a:xfrm>
          <a:prstGeom prst="rect">
            <a:avLst/>
          </a:prstGeom>
          <a:noFill/>
        </p:spPr>
        <p:txBody>
          <a:bodyPr wrap="none">
            <a:spAutoFit/>
          </a:bodyPr>
          <a:lstStyle/>
          <a:p>
            <a:pPr>
              <a:defRPr sz="900">
                <a:solidFill>
                  <a:srgbClr val="9DA5B0"/>
                </a:solidFill>
              </a:defRPr>
            </a:pPr>
            <a:r>
              <a:t>Synthetic traffic and simulated local indicator · no external threat feed claimed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DEMO 02 · Inspect a signal, then pivot to its source</a:t>
            </a:r>
          </a:p>
          <a:p>
            <a:pPr>
              <a:defRPr sz="1400">
                <a:solidFill>
                  <a:srgbClr val="9DA5B0"/>
                </a:solidFill>
              </a:defRPr>
            </a:pPr>
            <a:r>
              <a:t>The screenshots capture two real interactions in the running dashboard</a:t>
            </a:r>
          </a:p>
        </p:txBody>
      </p:sp>
      <p:pic>
        <p:nvPicPr>
          <p:cNvPr id="4" name="Picture 3" descr="alert-review-demo.png"/>
          <p:cNvPicPr>
            <a:picLocks noChangeAspect="1"/>
          </p:cNvPicPr>
          <p:nvPr/>
        </p:nvPicPr>
        <p:blipFill>
          <a:blip r:embed="rId2"/>
          <a:stretch>
            <a:fillRect/>
          </a:stretch>
        </p:blipFill>
        <p:spPr>
          <a:xfrm>
            <a:off x="502920" y="1298448"/>
            <a:ext cx="7406640" cy="5143500"/>
          </a:xfrm>
          <a:prstGeom prst="rect">
            <a:avLst/>
          </a:prstGeom>
        </p:spPr>
      </p:pic>
      <p:sp>
        <p:nvSpPr>
          <p:cNvPr id="5" name="Rounded Rectangle 4"/>
          <p:cNvSpPr/>
          <p:nvPr/>
        </p:nvSpPr>
        <p:spPr>
          <a:xfrm>
            <a:off x="8138160" y="1353312"/>
            <a:ext cx="3520440" cy="1353312"/>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38160" y="1353312"/>
            <a:ext cx="50292" cy="135331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444752"/>
            <a:ext cx="3200400" cy="1207008"/>
          </a:xfrm>
          <a:prstGeom prst="rect">
            <a:avLst/>
          </a:prstGeom>
          <a:noFill/>
        </p:spPr>
        <p:txBody>
          <a:bodyPr wrap="square" lIns="0" rIns="0" tIns="0" bIns="0">
            <a:spAutoFit/>
          </a:bodyPr>
          <a:lstStyle/>
          <a:p>
            <a:pPr>
              <a:spcAft>
                <a:spcPts val="400"/>
              </a:spcAft>
              <a:defRPr sz="900" b="1">
                <a:solidFill>
                  <a:srgbClr val="58A6FF"/>
                </a:solidFill>
              </a:defRPr>
            </a:pPr>
            <a:r>
              <a:t>STEP 1 · OPEN ALERT</a:t>
            </a:r>
          </a:p>
          <a:p>
            <a:pPr>
              <a:spcAft>
                <a:spcPts val="300"/>
              </a:spcAft>
              <a:defRPr sz="1700" b="1">
                <a:solidFill>
                  <a:srgbClr val="E6EDF3"/>
                </a:solidFill>
              </a:defRPr>
            </a:pPr>
            <a:r>
              <a:t>Periodic flow pattern</a:t>
            </a:r>
          </a:p>
          <a:p>
            <a:pPr>
              <a:defRPr sz="1100">
                <a:solidFill>
                  <a:srgbClr val="9DA5B0"/>
                </a:solidFill>
              </a:defRPr>
            </a:pPr>
            <a:r>
              <a:t>Six observed flows · mean interval 4.98 s · CV 0.0179 against a 0.15 gate.</a:t>
            </a:r>
          </a:p>
        </p:txBody>
      </p:sp>
      <p:sp>
        <p:nvSpPr>
          <p:cNvPr id="8" name="Rounded Rectangle 7"/>
          <p:cNvSpPr/>
          <p:nvPr/>
        </p:nvSpPr>
        <p:spPr>
          <a:xfrm>
            <a:off x="8138160" y="2944368"/>
            <a:ext cx="3520440" cy="1353312"/>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138160" y="2944368"/>
            <a:ext cx="50292" cy="1353312"/>
          </a:xfrm>
          <a:prstGeom prst="rect">
            <a:avLst/>
          </a:prstGeom>
          <a:solidFill>
            <a:srgbClr val="D299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3035808"/>
            <a:ext cx="3200400" cy="1207008"/>
          </a:xfrm>
          <a:prstGeom prst="rect">
            <a:avLst/>
          </a:prstGeom>
          <a:noFill/>
        </p:spPr>
        <p:txBody>
          <a:bodyPr wrap="square" lIns="0" rIns="0" tIns="0" bIns="0">
            <a:spAutoFit/>
          </a:bodyPr>
          <a:lstStyle/>
          <a:p>
            <a:pPr>
              <a:spcAft>
                <a:spcPts val="400"/>
              </a:spcAft>
              <a:defRPr sz="900" b="1">
                <a:solidFill>
                  <a:srgbClr val="D29922"/>
                </a:solidFill>
              </a:defRPr>
            </a:pPr>
            <a:r>
              <a:t>STEP 2 · READ LIMITS</a:t>
            </a:r>
          </a:p>
          <a:p>
            <a:pPr>
              <a:spcAft>
                <a:spcPts val="300"/>
              </a:spcAft>
              <a:defRPr sz="1700" b="1">
                <a:solidFill>
                  <a:srgbClr val="E6EDF3"/>
                </a:solidFill>
              </a:defRPr>
            </a:pPr>
            <a:r>
              <a:t>Pattern is evidence, not proof</a:t>
            </a:r>
          </a:p>
          <a:p>
            <a:pPr>
              <a:defRPr sz="1100">
                <a:solidFill>
                  <a:srgbClr val="9DA5B0"/>
                </a:solidFill>
              </a:defRPr>
            </a:pPr>
            <a:r>
              <a:t>Scheduled jobs and cloud telemetry can look periodic. Scores are not calibrated probabilities.</a:t>
            </a:r>
          </a:p>
        </p:txBody>
      </p:sp>
      <p:sp>
        <p:nvSpPr>
          <p:cNvPr id="11" name="Rounded Rectangle 10"/>
          <p:cNvSpPr/>
          <p:nvPr/>
        </p:nvSpPr>
        <p:spPr>
          <a:xfrm>
            <a:off x="8138160" y="4535424"/>
            <a:ext cx="3520440" cy="1353312"/>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38160" y="4535424"/>
            <a:ext cx="50292" cy="135331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4626864"/>
            <a:ext cx="3200400" cy="1207008"/>
          </a:xfrm>
          <a:prstGeom prst="rect">
            <a:avLst/>
          </a:prstGeom>
          <a:noFill/>
        </p:spPr>
        <p:txBody>
          <a:bodyPr wrap="square" lIns="0" rIns="0" tIns="0" bIns="0">
            <a:spAutoFit/>
          </a:bodyPr>
          <a:lstStyle/>
          <a:p>
            <a:pPr>
              <a:spcAft>
                <a:spcPts val="400"/>
              </a:spcAft>
              <a:defRPr sz="900" b="1">
                <a:solidFill>
                  <a:srgbClr val="3FB950"/>
                </a:solidFill>
              </a:defRPr>
            </a:pPr>
            <a:r>
              <a:t>STEP 3 · SCOPE SOURCE</a:t>
            </a:r>
          </a:p>
          <a:p>
            <a:pPr>
              <a:spcAft>
                <a:spcPts val="300"/>
              </a:spcAft>
              <a:defRPr sz="1700" b="1">
                <a:solidFill>
                  <a:srgbClr val="E6EDF3"/>
                </a:solidFill>
              </a:defRPr>
            </a:pPr>
            <a:r>
              <a:t>Filter to the observed host</a:t>
            </a:r>
          </a:p>
          <a:p>
            <a:pPr>
              <a:defRPr sz="1100">
                <a:solidFill>
                  <a:srgbClr val="9DA5B0"/>
                </a:solidFill>
              </a:defRPr>
            </a:pPr>
            <a:r>
              <a:t>Compare its flow times with the host schedule; return to the full queue to restore context.</a:t>
            </a:r>
          </a:p>
        </p:txBody>
      </p:sp>
      <p:sp>
        <p:nvSpPr>
          <p:cNvPr id="14" name="TextBox 13"/>
          <p:cNvSpPr txBox="1"/>
          <p:nvPr/>
        </p:nvSpPr>
        <p:spPr>
          <a:xfrm>
            <a:off x="502920" y="6510528"/>
            <a:ext cx="7315200" cy="219456"/>
          </a:xfrm>
          <a:prstGeom prst="rect">
            <a:avLst/>
          </a:prstGeom>
          <a:noFill/>
        </p:spPr>
        <p:txBody>
          <a:bodyPr wrap="none">
            <a:spAutoFit/>
          </a:bodyPr>
          <a:lstStyle/>
          <a:p>
            <a:pPr>
              <a:defRPr sz="900">
                <a:solidFill>
                  <a:srgbClr val="9DA5B0"/>
                </a:solidFill>
              </a:defRPr>
            </a:pPr>
            <a:r>
              <a:t>Synthetic replay · one-way client metadata · no successful session inferred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DEMO 03 · Filter the queue to the selected source</a:t>
            </a:r>
          </a:p>
          <a:p>
            <a:pPr>
              <a:defRPr sz="1400">
                <a:solidFill>
                  <a:srgbClr val="9DA5B0"/>
                </a:solidFill>
              </a:defRPr>
            </a:pPr>
            <a:r>
              <a:t>An analyst can narrow the evidence and clear the filter to restore full scope</a:t>
            </a:r>
          </a:p>
        </p:txBody>
      </p:sp>
      <p:pic>
        <p:nvPicPr>
          <p:cNvPr id="4" name="Picture 3" descr="source-pivot-demo.png"/>
          <p:cNvPicPr>
            <a:picLocks noChangeAspect="1"/>
          </p:cNvPicPr>
          <p:nvPr/>
        </p:nvPicPr>
        <p:blipFill>
          <a:blip r:embed="rId2"/>
          <a:stretch>
            <a:fillRect/>
          </a:stretch>
        </p:blipFill>
        <p:spPr>
          <a:xfrm>
            <a:off x="502920" y="1298448"/>
            <a:ext cx="7406640" cy="5143500"/>
          </a:xfrm>
          <a:prstGeom prst="rect">
            <a:avLst/>
          </a:prstGeom>
        </p:spPr>
      </p:pic>
      <p:sp>
        <p:nvSpPr>
          <p:cNvPr id="5" name="Rounded Rectangle 4"/>
          <p:cNvSpPr/>
          <p:nvPr/>
        </p:nvSpPr>
        <p:spPr>
          <a:xfrm>
            <a:off x="8138160" y="1417320"/>
            <a:ext cx="3520440" cy="1371600"/>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38160" y="1417320"/>
            <a:ext cx="50292" cy="13716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508760"/>
            <a:ext cx="3200400" cy="1225296"/>
          </a:xfrm>
          <a:prstGeom prst="rect">
            <a:avLst/>
          </a:prstGeom>
          <a:noFill/>
        </p:spPr>
        <p:txBody>
          <a:bodyPr wrap="square" lIns="0" rIns="0" tIns="0" bIns="0">
            <a:spAutoFit/>
          </a:bodyPr>
          <a:lstStyle/>
          <a:p>
            <a:pPr>
              <a:spcAft>
                <a:spcPts val="400"/>
              </a:spcAft>
              <a:defRPr sz="900" b="1">
                <a:solidFill>
                  <a:srgbClr val="58A6FF"/>
                </a:solidFill>
              </a:defRPr>
            </a:pPr>
            <a:r>
              <a:t>SELECTED ENTITY</a:t>
            </a:r>
          </a:p>
          <a:p>
            <a:pPr>
              <a:spcAft>
                <a:spcPts val="300"/>
              </a:spcAft>
              <a:defRPr sz="1700" b="1">
                <a:solidFill>
                  <a:srgbClr val="E6EDF3"/>
                </a:solidFill>
              </a:defRPr>
            </a:pPr>
            <a:r>
              <a:t>Source 10.0.0.7</a:t>
            </a:r>
          </a:p>
          <a:p>
            <a:pPr>
              <a:defRPr sz="1100">
                <a:solidFill>
                  <a:srgbClr val="9DA5B0"/>
                </a:solidFill>
              </a:defRPr>
            </a:pPr>
            <a:r>
              <a:t>The queue narrows to records matching this observed source. The count reflects the captured moment.</a:t>
            </a:r>
          </a:p>
        </p:txBody>
      </p:sp>
      <p:sp>
        <p:nvSpPr>
          <p:cNvPr id="8" name="Rounded Rectangle 7"/>
          <p:cNvSpPr/>
          <p:nvPr/>
        </p:nvSpPr>
        <p:spPr>
          <a:xfrm>
            <a:off x="8138160" y="3108960"/>
            <a:ext cx="3520440" cy="1371600"/>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138160" y="3108960"/>
            <a:ext cx="50292" cy="1371600"/>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3200400"/>
            <a:ext cx="3200400" cy="1225296"/>
          </a:xfrm>
          <a:prstGeom prst="rect">
            <a:avLst/>
          </a:prstGeom>
          <a:noFill/>
        </p:spPr>
        <p:txBody>
          <a:bodyPr wrap="square" lIns="0" rIns="0" tIns="0" bIns="0">
            <a:spAutoFit/>
          </a:bodyPr>
          <a:lstStyle/>
          <a:p>
            <a:pPr>
              <a:spcAft>
                <a:spcPts val="400"/>
              </a:spcAft>
              <a:defRPr sz="900" b="1">
                <a:solidFill>
                  <a:srgbClr val="3FB950"/>
                </a:solidFill>
              </a:defRPr>
            </a:pPr>
            <a:r>
              <a:t>REVIEW IN CONTEXT</a:t>
            </a:r>
          </a:p>
          <a:p>
            <a:pPr>
              <a:spcAft>
                <a:spcPts val="300"/>
              </a:spcAft>
              <a:defRPr sz="1700" b="1">
                <a:solidFill>
                  <a:srgbClr val="E6EDF3"/>
                </a:solidFill>
              </a:defRPr>
            </a:pPr>
            <a:r>
              <a:t>Compare signals over time</a:t>
            </a:r>
          </a:p>
          <a:p>
            <a:pPr>
              <a:defRPr sz="1100">
                <a:solidFill>
                  <a:srgbClr val="9DA5B0"/>
                </a:solidFill>
              </a:defRPr>
            </a:pPr>
            <a:r>
              <a:t>Check the host’s other observed destinations and alert sequence; clear the filter to return to all records.</a:t>
            </a:r>
          </a:p>
        </p:txBody>
      </p:sp>
      <p:sp>
        <p:nvSpPr>
          <p:cNvPr id="11" name="Rounded Rectangle 10"/>
          <p:cNvSpPr/>
          <p:nvPr/>
        </p:nvSpPr>
        <p:spPr>
          <a:xfrm>
            <a:off x="8138160" y="4800600"/>
            <a:ext cx="3520440" cy="1371600"/>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38160" y="4800600"/>
            <a:ext cx="50292" cy="1371600"/>
          </a:xfrm>
          <a:prstGeom prst="rect">
            <a:avLst/>
          </a:prstGeom>
          <a:solidFill>
            <a:srgbClr val="D299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4892040"/>
            <a:ext cx="3200400" cy="1225296"/>
          </a:xfrm>
          <a:prstGeom prst="rect">
            <a:avLst/>
          </a:prstGeom>
          <a:noFill/>
        </p:spPr>
        <p:txBody>
          <a:bodyPr wrap="square" lIns="0" rIns="0" tIns="0" bIns="0">
            <a:spAutoFit/>
          </a:bodyPr>
          <a:lstStyle/>
          <a:p>
            <a:pPr>
              <a:spcAft>
                <a:spcPts val="400"/>
              </a:spcAft>
              <a:defRPr sz="900" b="1">
                <a:solidFill>
                  <a:srgbClr val="D29922"/>
                </a:solidFill>
              </a:defRPr>
            </a:pPr>
            <a:r>
              <a:t>INTERPRET CAREFULLY</a:t>
            </a:r>
          </a:p>
          <a:p>
            <a:pPr>
              <a:spcAft>
                <a:spcPts val="300"/>
              </a:spcAft>
              <a:defRPr sz="1700" b="1">
                <a:solidFill>
                  <a:srgbClr val="E6EDF3"/>
                </a:solidFill>
              </a:defRPr>
            </a:pPr>
            <a:r>
              <a:t>A pivot is not a verdict</a:t>
            </a:r>
          </a:p>
          <a:p>
            <a:pPr>
              <a:defRPr sz="1100">
                <a:solidFill>
                  <a:srgbClr val="9DA5B0"/>
                </a:solidFill>
              </a:defRPr>
            </a:pPr>
            <a:r>
              <a:t>Source association helps triage; it does not establish compromise or intent.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Class (a) — three answers to have ready before a judge notices</a:t>
            </a:r>
          </a:p>
          <a:p>
            <a:pPr>
              <a:defRPr sz="1400">
                <a:solidFill>
                  <a:srgbClr val="9DA5B0"/>
                </a:solidFill>
              </a:defRPr>
            </a:pPr>
            <a:r>
              <a:t>Volumetric / protocol DDoS from flow-level rate and source-IP entropy</a:t>
            </a:r>
          </a:p>
        </p:txBody>
      </p:sp>
      <p:sp>
        <p:nvSpPr>
          <p:cNvPr id="4" name="Rounded Rectangle 3"/>
          <p:cNvSpPr/>
          <p:nvPr/>
        </p:nvSpPr>
        <p:spPr>
          <a:xfrm>
            <a:off x="640080" y="1417320"/>
            <a:ext cx="5349240" cy="1572768"/>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417320"/>
            <a:ext cx="50292" cy="1572768"/>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508760"/>
            <a:ext cx="5029200" cy="1426464"/>
          </a:xfrm>
          <a:prstGeom prst="rect">
            <a:avLst/>
          </a:prstGeom>
          <a:noFill/>
        </p:spPr>
        <p:txBody>
          <a:bodyPr wrap="square" lIns="0" rIns="0" tIns="0" bIns="0">
            <a:spAutoFit/>
          </a:bodyPr>
          <a:lstStyle/>
          <a:p>
            <a:pPr>
              <a:spcAft>
                <a:spcPts val="400"/>
              </a:spcAft>
              <a:defRPr sz="900" b="1">
                <a:solidFill>
                  <a:srgbClr val="58A6FF"/>
                </a:solidFill>
              </a:defRPr>
            </a:pPr>
            <a:r>
              <a:t>TCP / MIXED TRAFFIC</a:t>
            </a:r>
          </a:p>
          <a:p>
            <a:pPr>
              <a:spcAft>
                <a:spcPts val="300"/>
              </a:spcAft>
              <a:defRPr sz="1700" b="1">
                <a:solidFill>
                  <a:srgbClr val="E6EDF3"/>
                </a:solidFill>
              </a:defRPr>
            </a:pPr>
            <a:r>
              <a:t>Spoofed-source volume</a:t>
            </a:r>
          </a:p>
          <a:p>
            <a:pPr>
              <a:defRPr sz="1100">
                <a:solidFill>
                  <a:srgbClr val="9DA5B0"/>
                </a:solidFill>
              </a:defRPr>
            </a:pPr>
            <a:r>
              <a:t>≥500 distinct sources selects `ddos_volumetric_spoofed`; SYN ratio stays in the evidence. On the reference capture it is about 0.93.</a:t>
            </a:r>
          </a:p>
        </p:txBody>
      </p:sp>
      <p:sp>
        <p:nvSpPr>
          <p:cNvPr id="7" name="Rounded Rectangle 6"/>
          <p:cNvSpPr/>
          <p:nvPr/>
        </p:nvSpPr>
        <p:spPr>
          <a:xfrm>
            <a:off x="6217920" y="1417320"/>
            <a:ext cx="5349240" cy="1572768"/>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0" y="1417320"/>
            <a:ext cx="50292" cy="1572768"/>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508760"/>
            <a:ext cx="5029200" cy="1426464"/>
          </a:xfrm>
          <a:prstGeom prst="rect">
            <a:avLst/>
          </a:prstGeom>
          <a:noFill/>
        </p:spPr>
        <p:txBody>
          <a:bodyPr wrap="square" lIns="0" rIns="0" tIns="0" bIns="0">
            <a:spAutoFit/>
          </a:bodyPr>
          <a:lstStyle/>
          <a:p>
            <a:pPr>
              <a:spcAft>
                <a:spcPts val="400"/>
              </a:spcAft>
              <a:defRPr sz="900" b="1">
                <a:solidFill>
                  <a:srgbClr val="3FB950"/>
                </a:solidFill>
              </a:defRPr>
            </a:pPr>
            <a:r>
              <a:t>UDP · ONE SOURCE</a:t>
            </a:r>
          </a:p>
          <a:p>
            <a:pPr>
              <a:spcAft>
                <a:spcPts val="300"/>
              </a:spcAft>
              <a:defRPr sz="1700" b="1">
                <a:solidFill>
                  <a:srgbClr val="E6EDF3"/>
                </a:solidFill>
              </a:defRPr>
            </a:pPr>
            <a:r>
              <a:t>Fan-out across endpoints</a:t>
            </a:r>
          </a:p>
          <a:p>
            <a:pPr>
              <a:defRPr sz="1100">
                <a:solidFill>
                  <a:srgbClr val="9DA5B0"/>
                </a:solidFill>
              </a:defRPr>
            </a:pPr>
            <a:r>
              <a:t>≥100 datagrams and ≥20 destination IP/port endpoints in one 10 s window.</a:t>
            </a:r>
          </a:p>
        </p:txBody>
      </p:sp>
      <p:sp>
        <p:nvSpPr>
          <p:cNvPr id="10" name="Rounded Rectangle 9"/>
          <p:cNvSpPr/>
          <p:nvPr/>
        </p:nvSpPr>
        <p:spPr>
          <a:xfrm>
            <a:off x="640080" y="3310128"/>
            <a:ext cx="5349240" cy="1572768"/>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310128"/>
            <a:ext cx="50292" cy="1572768"/>
          </a:xfrm>
          <a:prstGeom prst="rect">
            <a:avLst/>
          </a:prstGeom>
          <a:solidFill>
            <a:srgbClr val="D299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3401568"/>
            <a:ext cx="5029200" cy="1426464"/>
          </a:xfrm>
          <a:prstGeom prst="rect">
            <a:avLst/>
          </a:prstGeom>
          <a:noFill/>
        </p:spPr>
        <p:txBody>
          <a:bodyPr wrap="square" lIns="0" rIns="0" tIns="0" bIns="0">
            <a:spAutoFit/>
          </a:bodyPr>
          <a:lstStyle/>
          <a:p>
            <a:pPr>
              <a:spcAft>
                <a:spcPts val="400"/>
              </a:spcAft>
              <a:defRPr sz="900" b="1">
                <a:solidFill>
                  <a:srgbClr val="D29922"/>
                </a:solidFill>
              </a:defRPr>
            </a:pPr>
            <a:r>
              <a:t>UDP · MANY SOURCES</a:t>
            </a:r>
          </a:p>
          <a:p>
            <a:pPr>
              <a:spcAft>
                <a:spcPts val="300"/>
              </a:spcAft>
              <a:defRPr sz="1700" b="1">
                <a:solidFill>
                  <a:srgbClr val="E6EDF3"/>
                </a:solidFill>
              </a:defRPr>
            </a:pPr>
            <a:r>
              <a:t>Shared-target burst</a:t>
            </a:r>
          </a:p>
          <a:p>
            <a:pPr>
              <a:defRPr sz="1100">
                <a:solidFill>
                  <a:srgbClr val="9DA5B0"/>
                </a:solidFill>
              </a:defRPr>
            </a:pPr>
            <a:r>
              <a:t>≥1,000 datagrams from ≥50 visible source IPs to one endpoint in the window.</a:t>
            </a:r>
          </a:p>
        </p:txBody>
      </p:sp>
      <p:sp>
        <p:nvSpPr>
          <p:cNvPr id="13" name="Rounded Rectangle 12"/>
          <p:cNvSpPr/>
          <p:nvPr/>
        </p:nvSpPr>
        <p:spPr>
          <a:xfrm>
            <a:off x="6217920" y="3310128"/>
            <a:ext cx="5349240" cy="1572768"/>
          </a:xfrm>
          <a:prstGeom prst="roundRect">
            <a:avLst/>
          </a:prstGeom>
          <a:solidFill>
            <a:srgbClr val="161B22"/>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3310128"/>
            <a:ext cx="50292" cy="1572768"/>
          </a:xfrm>
          <a:prstGeom prst="rect">
            <a:avLst/>
          </a:prstGeom>
          <a:solidFill>
            <a:srgbClr val="9DA5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3401568"/>
            <a:ext cx="5029200" cy="1426464"/>
          </a:xfrm>
          <a:prstGeom prst="rect">
            <a:avLst/>
          </a:prstGeom>
          <a:noFill/>
        </p:spPr>
        <p:txBody>
          <a:bodyPr wrap="square" lIns="0" rIns="0" tIns="0" bIns="0">
            <a:spAutoFit/>
          </a:bodyPr>
          <a:lstStyle/>
          <a:p>
            <a:pPr>
              <a:spcAft>
                <a:spcPts val="400"/>
              </a:spcAft>
              <a:defRPr sz="900" b="1">
                <a:solidFill>
                  <a:srgbClr val="9DA5B0"/>
                </a:solidFill>
              </a:defRPr>
            </a:pPr>
            <a:r>
              <a:t>WHY NOT CALL IT AMPLIFICATION?</a:t>
            </a:r>
          </a:p>
          <a:p>
            <a:pPr>
              <a:spcAft>
                <a:spcPts val="300"/>
              </a:spcAft>
              <a:defRPr sz="1700" b="1">
                <a:solidFill>
                  <a:srgbClr val="E6EDF3"/>
                </a:solidFill>
              </a:defRPr>
            </a:pPr>
            <a:r>
              <a:t>Replies never cross the diode</a:t>
            </a:r>
          </a:p>
          <a:p>
            <a:pPr>
              <a:defRPr sz="1100">
                <a:solidFill>
                  <a:srgbClr val="9DA5B0"/>
                </a:solidFill>
              </a:defRPr>
            </a:pPr>
            <a:r>
              <a:t>Packet rates, endpoints and trigger thresholds are observed. Response size is missing; these prototype thresholds need capture calibration.</a:t>
            </a:r>
          </a:p>
        </p:txBody>
      </p:sp>
      <p:sp>
        <p:nvSpPr>
          <p:cNvPr id="16" name="Rounded Rectangle 15"/>
          <p:cNvSpPr/>
          <p:nvPr/>
        </p:nvSpPr>
        <p:spPr>
          <a:xfrm>
            <a:off x="1051560" y="5349240"/>
            <a:ext cx="10058400" cy="640080"/>
          </a:xfrm>
          <a:prstGeom prst="roundRect">
            <a:avLst/>
          </a:prstGeom>
          <a:solidFill>
            <a:srgbClr val="141A24"/>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80160" y="5468112"/>
            <a:ext cx="9601200" cy="384048"/>
          </a:xfrm>
          <a:prstGeom prst="rect">
            <a:avLst/>
          </a:prstGeom>
          <a:noFill/>
        </p:spPr>
        <p:txBody>
          <a:bodyPr wrap="none">
            <a:spAutoFit/>
          </a:bodyPr>
          <a:lstStyle/>
          <a:p>
            <a:pPr algn="ctr">
              <a:defRPr sz="1400">
                <a:solidFill>
                  <a:srgbClr val="9DA5B0"/>
                </a:solidFill>
              </a:defRPr>
            </a:pPr>
            <a:r>
              <a:t>Source cardinality drives the spoofed-source decision; Shannon entropy is recorded as supporting evidence.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Throughput — stated and demonstrated, as the statement requires</a:t>
            </a:r>
          </a:p>
          <a:p>
            <a:pPr>
              <a:defRPr sz="1400">
                <a:solidFill>
                  <a:srgbClr val="9DA5B0"/>
                </a:solidFill>
              </a:defRPr>
            </a:pPr>
            <a:r>
              <a:t>Pure Python, one CPU core, no C extension, no GPU</a:t>
            </a:r>
          </a:p>
        </p:txBody>
      </p:sp>
      <p:graphicFrame>
        <p:nvGraphicFramePr>
          <p:cNvPr id="4" name="Table 3"/>
          <p:cNvGraphicFramePr>
            <a:graphicFrameLocks noGrp="1"/>
          </p:cNvGraphicFramePr>
          <p:nvPr/>
        </p:nvGraphicFramePr>
        <p:xfrm>
          <a:off x="502920" y="1371600"/>
          <a:ext cx="11155678" cy="932688"/>
        </p:xfrm>
        <a:graphic>
          <a:graphicData uri="http://schemas.openxmlformats.org/drawingml/2006/table">
            <a:tbl>
              <a:tblPr firstRow="1" bandRow="1">
                <a:tableStyleId>{5C22544A-7EE6-4342-B048-85BDC9FD1C3A}</a:tableStyleId>
              </a:tblPr>
              <a:tblGrid>
                <a:gridCol w="3305386"/>
                <a:gridCol w="2685626"/>
                <a:gridCol w="2479040"/>
                <a:gridCol w="2685626"/>
              </a:tblGrid>
              <a:tr h="310896">
                <a:tc>
                  <a:txBody>
                    <a:bodyPr/>
                    <a:lstStyle/>
                    <a:p>
                      <a:pPr>
                        <a:defRPr sz="1400" b="1">
                          <a:solidFill>
                            <a:srgbClr val="58A6FF"/>
                          </a:solidFill>
                        </a:defRPr>
                      </a:pPr>
                      <a:r>
                        <a:t>Mode</a:t>
                      </a:r>
                    </a:p>
                  </a:txBody>
                  <a:tcPr marL="73152" marR="54864" marT="18288" marB="18288" anchor="ctr">
                    <a:solidFill>
                      <a:srgbClr val="1C222B"/>
                    </a:solidFill>
                  </a:tcPr>
                </a:tc>
                <a:tc>
                  <a:txBody>
                    <a:bodyPr/>
                    <a:lstStyle/>
                    <a:p>
                      <a:pPr>
                        <a:defRPr sz="1400" b="1">
                          <a:solidFill>
                            <a:srgbClr val="58A6FF"/>
                          </a:solidFill>
                        </a:defRPr>
                      </a:pPr>
                      <a:r>
                        <a:t>Packets/s</a:t>
                      </a:r>
                    </a:p>
                  </a:txBody>
                  <a:tcPr marL="73152" marR="54864" marT="18288" marB="18288" anchor="ctr">
                    <a:solidFill>
                      <a:srgbClr val="1C222B"/>
                    </a:solidFill>
                  </a:tcPr>
                </a:tc>
                <a:tc>
                  <a:txBody>
                    <a:bodyPr/>
                    <a:lstStyle/>
                    <a:p>
                      <a:pPr>
                        <a:defRPr sz="1400" b="1">
                          <a:solidFill>
                            <a:srgbClr val="58A6FF"/>
                          </a:solidFill>
                        </a:defRPr>
                      </a:pPr>
                      <a:r>
                        <a:t>Sustained rate</a:t>
                      </a:r>
                    </a:p>
                  </a:txBody>
                  <a:tcPr marL="73152" marR="54864" marT="18288" marB="18288" anchor="ctr">
                    <a:solidFill>
                      <a:srgbClr val="1C222B"/>
                    </a:solidFill>
                  </a:tcPr>
                </a:tc>
                <a:tc>
                  <a:txBody>
                    <a:bodyPr/>
                    <a:lstStyle/>
                    <a:p>
                      <a:pPr>
                        <a:defRPr sz="1400" b="1">
                          <a:solidFill>
                            <a:srgbClr val="58A6FF"/>
                          </a:solidFill>
                        </a:defRPr>
                      </a:pPr>
                      <a:r>
                        <a:t>Flows/s</a:t>
                      </a:r>
                    </a:p>
                  </a:txBody>
                  <a:tcPr marL="73152" marR="54864" marT="18288" marB="18288" anchor="ctr">
                    <a:solidFill>
                      <a:srgbClr val="1C222B"/>
                    </a:solidFill>
                  </a:tcPr>
                </a:tc>
              </a:tr>
              <a:tr h="310896">
                <a:tc>
                  <a:txBody>
                    <a:bodyPr/>
                    <a:lstStyle/>
                    <a:p>
                      <a:pPr>
                        <a:defRPr sz="1400" b="0">
                          <a:solidFill>
                            <a:srgbClr val="E6EDF3"/>
                          </a:solidFill>
                        </a:defRPr>
                      </a:pPr>
                      <a:r>
                        <a:t>Rules only (dpkt)</a:t>
                      </a:r>
                    </a:p>
                  </a:txBody>
                  <a:tcPr marL="73152" marR="54864" marT="18288" marB="18288" anchor="ctr">
                    <a:solidFill>
                      <a:srgbClr val="161B22"/>
                    </a:solidFill>
                  </a:tcPr>
                </a:tc>
                <a:tc>
                  <a:txBody>
                    <a:bodyPr/>
                    <a:lstStyle/>
                    <a:p>
                      <a:pPr>
                        <a:defRPr sz="1400" b="0">
                          <a:solidFill>
                            <a:srgbClr val="E6EDF3"/>
                          </a:solidFill>
                        </a:defRPr>
                      </a:pPr>
                      <a:r>
                        <a:t>≈ 48,600 – 50,400</a:t>
                      </a:r>
                    </a:p>
                  </a:txBody>
                  <a:tcPr marL="73152" marR="54864" marT="18288" marB="18288" anchor="ctr">
                    <a:solidFill>
                      <a:srgbClr val="161B22"/>
                    </a:solidFill>
                  </a:tcPr>
                </a:tc>
                <a:tc>
                  <a:txBody>
                    <a:bodyPr/>
                    <a:lstStyle/>
                    <a:p>
                      <a:pPr>
                        <a:defRPr sz="1400" b="0">
                          <a:solidFill>
                            <a:srgbClr val="E6EDF3"/>
                          </a:solidFill>
                        </a:defRPr>
                      </a:pPr>
                      <a:r>
                        <a:t>≈ 240 Mbps</a:t>
                      </a:r>
                    </a:p>
                  </a:txBody>
                  <a:tcPr marL="73152" marR="54864" marT="18288" marB="18288" anchor="ctr">
                    <a:solidFill>
                      <a:srgbClr val="161B22"/>
                    </a:solidFill>
                  </a:tcPr>
                </a:tc>
                <a:tc>
                  <a:txBody>
                    <a:bodyPr/>
                    <a:lstStyle/>
                    <a:p>
                      <a:pPr>
                        <a:defRPr sz="1400" b="0">
                          <a:solidFill>
                            <a:srgbClr val="E6EDF3"/>
                          </a:solidFill>
                        </a:defRPr>
                      </a:pPr>
                      <a:r>
                        <a:t>≈ 19,200 – 20,300</a:t>
                      </a:r>
                    </a:p>
                  </a:txBody>
                  <a:tcPr marL="73152" marR="54864" marT="18288" marB="18288" anchor="ctr">
                    <a:solidFill>
                      <a:srgbClr val="161B22"/>
                    </a:solidFill>
                  </a:tcPr>
                </a:tc>
              </a:tr>
              <a:tr h="310896">
                <a:tc>
                  <a:txBody>
                    <a:bodyPr/>
                    <a:lstStyle/>
                    <a:p>
                      <a:pPr>
                        <a:defRPr sz="1400" b="0">
                          <a:solidFill>
                            <a:srgbClr val="E6EDF3"/>
                          </a:solidFill>
                        </a:defRPr>
                      </a:pPr>
                      <a:r>
                        <a:t>With ML tier (LightGBM)</a:t>
                      </a:r>
                    </a:p>
                  </a:txBody>
                  <a:tcPr marL="73152" marR="54864" marT="18288" marB="18288" anchor="ctr">
                    <a:solidFill>
                      <a:srgbClr val="161B22"/>
                    </a:solidFill>
                  </a:tcPr>
                </a:tc>
                <a:tc>
                  <a:txBody>
                    <a:bodyPr/>
                    <a:lstStyle/>
                    <a:p>
                      <a:pPr>
                        <a:defRPr sz="1400" b="0">
                          <a:solidFill>
                            <a:srgbClr val="E6EDF3"/>
                          </a:solidFill>
                        </a:defRPr>
                      </a:pPr>
                      <a:r>
                        <a:t>≈ 24,000 – 31,000</a:t>
                      </a:r>
                    </a:p>
                  </a:txBody>
                  <a:tcPr marL="73152" marR="54864" marT="18288" marB="18288" anchor="ctr">
                    <a:solidFill>
                      <a:srgbClr val="161B22"/>
                    </a:solidFill>
                  </a:tcPr>
                </a:tc>
                <a:tc>
                  <a:txBody>
                    <a:bodyPr/>
                    <a:lstStyle/>
                    <a:p>
                      <a:pPr>
                        <a:defRPr sz="1400" b="0">
                          <a:solidFill>
                            <a:srgbClr val="E6EDF3"/>
                          </a:solidFill>
                        </a:defRPr>
                      </a:pPr>
                      <a:r>
                        <a:t>≈ 120 – 155 Mbps</a:t>
                      </a:r>
                    </a:p>
                  </a:txBody>
                  <a:tcPr marL="73152" marR="54864" marT="18288" marB="18288" anchor="ctr">
                    <a:solidFill>
                      <a:srgbClr val="161B22"/>
                    </a:solidFill>
                  </a:tcPr>
                </a:tc>
                <a:tc>
                  <a:txBody>
                    <a:bodyPr/>
                    <a:lstStyle/>
                    <a:p>
                      <a:pPr>
                        <a:defRPr sz="1400" b="0">
                          <a:solidFill>
                            <a:srgbClr val="E6EDF3"/>
                          </a:solidFill>
                        </a:defRPr>
                      </a:pPr>
                      <a:r>
                        <a:t>≈ 9,700 – 11,800</a:t>
                      </a:r>
                    </a:p>
                  </a:txBody>
                  <a:tcPr marL="73152" marR="54864" marT="18288" marB="18288" anchor="ctr">
                    <a:solidFill>
                      <a:srgbClr val="161B22"/>
                    </a:solidFill>
                  </a:tcPr>
                </a:tc>
              </a:tr>
            </a:tbl>
          </a:graphicData>
        </a:graphic>
      </p:graphicFrame>
      <p:sp>
        <p:nvSpPr>
          <p:cNvPr id="5" name="TextBox 4"/>
          <p:cNvSpPr txBox="1"/>
          <p:nvPr/>
        </p:nvSpPr>
        <p:spPr>
          <a:xfrm>
            <a:off x="502920" y="2926080"/>
            <a:ext cx="11185855" cy="3611880"/>
          </a:xfrm>
          <a:prstGeom prst="rect">
            <a:avLst/>
          </a:prstGeom>
          <a:noFill/>
        </p:spPr>
        <p:txBody>
          <a:bodyPr wrap="square">
            <a:spAutoFit/>
          </a:bodyPr>
          <a:lstStyle/>
          <a:p>
            <a:pPr>
              <a:spcAft>
                <a:spcPts val="600"/>
              </a:spcAft>
              <a:defRPr sz="1500">
                <a:solidFill>
                  <a:srgbClr val="E6EDF3"/>
                </a:solidFill>
              </a:defRPr>
            </a:pPr>
            <a:r>
              <a:t>This capture: 14,049 packets, 8,622,217 bytes, 598.8 s, mean packet 613.7 B, 5,225 distinct flows (4,617 SYN-only, 720 DNS, 7,107 TLS).</a:t>
            </a:r>
          </a:p>
          <a:p>
            <a:pPr>
              <a:spcAft>
                <a:spcPts val="600"/>
              </a:spcAft>
              <a:defRPr sz="1500">
                <a:solidFill>
                  <a:srgbClr val="9DA5B0"/>
                </a:solidFill>
              </a:defRPr>
            </a:pPr>
            <a:r>
              <a:t>The ML tier is quoted as a range on purpose: it varies with model warm-up and cache state, so a single false-precision number would not be reproducible.</a:t>
            </a:r>
          </a:p>
          <a:p>
            <a:pPr>
              <a:spcAft>
                <a:spcPts val="600"/>
              </a:spcAft>
              <a:defRPr sz="1500">
                <a:solidFill>
                  <a:srgbClr val="E6EDF3"/>
                </a:solidFill>
              </a:defRPr>
            </a:pPr>
            <a:r>
              <a:t>For a SYN flood the binding number is packets/s, not Mbps — small packets are cheaper per byte. pkt/s is the honest headline; Mbps is the translation the statement asks for, using this capture’s mean packet size.</a:t>
            </a:r>
          </a:p>
        </p:txBody>
      </p:sp>
      <p:sp>
        <p:nvSpPr>
          <p:cNvPr id="6" name="Rounded Rectangle 5"/>
          <p:cNvSpPr/>
          <p:nvPr/>
        </p:nvSpPr>
        <p:spPr>
          <a:xfrm>
            <a:off x="502920" y="5486400"/>
            <a:ext cx="11185855" cy="868680"/>
          </a:xfrm>
          <a:prstGeom prst="roundRect">
            <a:avLst/>
          </a:prstGeom>
          <a:solidFill>
            <a:srgbClr val="1A160E"/>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77840"/>
            <a:ext cx="10820095" cy="685800"/>
          </a:xfrm>
          <a:prstGeom prst="rect">
            <a:avLst/>
          </a:prstGeom>
          <a:noFill/>
        </p:spPr>
        <p:txBody>
          <a:bodyPr wrap="square">
            <a:spAutoFit/>
          </a:bodyPr>
          <a:lstStyle/>
          <a:p>
            <a:pPr>
              <a:defRPr sz="1500" i="1">
                <a:solidFill>
                  <a:srgbClr val="3FB950"/>
                </a:solidFill>
              </a:defRPr>
            </a:pPr>
            <a:r>
              <a:t>“About 50,000 packets per second — roughly 240 Mbps sustained — on a single CPU core, in pure Python with no C extension and no GPU. With the ML tier scoring every closed flow it drops to roughly 24 to 31 thousand.”</a:t>
            </a:r>
          </a:p>
        </p:txBody>
      </p:sp>
      <p:sp>
        <p:nvSpPr>
          <p:cNvPr id="8" name="TextBox 7"/>
          <p:cNvSpPr txBox="1"/>
          <p:nvPr/>
        </p:nvSpPr>
        <p:spPr>
          <a:xfrm>
            <a:off x="502920" y="6400800"/>
            <a:ext cx="11185855" cy="365760"/>
          </a:xfrm>
          <a:prstGeom prst="rect">
            <a:avLst/>
          </a:prstGeom>
          <a:noFill/>
        </p:spPr>
        <p:txBody>
          <a:bodyPr wrap="none">
            <a:spAutoFit/>
          </a:bodyPr>
          <a:lstStyle/>
          <a:p>
            <a:pPr>
              <a:defRPr sz="1100">
                <a:solidFill>
                  <a:srgbClr val="D29922"/>
                </a:solidFill>
              </a:defRPr>
            </a:pPr>
            <a:r>
              <a:t>Do not lead with the real-time factor: the capture is sparse (≈ 23 pkt/s ≈ 0.11 Mbps), so “~2,000× real-time” is one measurement restated. Quote it only as a repeatability claim.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Coverage and false positives — the measured answer, not the headline you want</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400">
                <a:solidFill>
                  <a:srgbClr val="E6EDF3"/>
                </a:solidFill>
              </a:defRPr>
            </a:pPr>
            <a:r>
              <a:t>6/6 PS threat classes covered. The rules tier emits 12 distinct threat classes (13 with the ML tier): historical recorded capture 46/68; current archived capture 45/67, plus 20 benign periodic events suppressed by the allowlist.</a:t>
            </a:r>
          </a:p>
          <a:p>
            <a:pPr>
              <a:spcAft>
                <a:spcPts val="600"/>
              </a:spcAft>
              <a:defRPr sz="1400">
                <a:solidFill>
                  <a:srgbClr val="3FB950"/>
                </a:solidFill>
              </a:defRPr>
            </a:pPr>
            <a:r>
              <a:t>On the historical default capture all 46 rules-tier alerts land on hosts the generator designates as attackers — zero FPs.</a:t>
            </a:r>
          </a:p>
          <a:p>
            <a:pPr>
              <a:spcAft>
                <a:spcPts val="600"/>
              </a:spcAft>
              <a:defRPr sz="1400">
                <a:solidFill>
                  <a:srgbClr val="D29922"/>
                </a:solidFill>
              </a:defRPr>
            </a:pPr>
            <a:r>
              <a:t>But we built a deliberate FP-pressure variant (MESSY=1) that injects benign patterns a real network has: first-time cloud backups, low-jitter IoT telemetry, CDN-style long subdomain labels.</a:t>
            </a:r>
          </a:p>
          <a:p>
            <a:pPr lvl="1">
              <a:spcAft>
                <a:spcPts val="600"/>
              </a:spcAft>
              <a:defRPr sz="1200">
                <a:solidFill>
                  <a:srgbClr val="E6EDF3"/>
                </a:solidFill>
              </a:defRPr>
            </a:pPr>
            <a:r>
              <a:t>On it the rules tier emits ONE TRUE CRITICAL FP — data_exfiltration at 0.95 on the benign backup host — because “large sustained upload to a never-before-seen destination” is exactly what a backup is.</a:t>
            </a:r>
          </a:p>
          <a:p>
            <a:pPr lvl="1">
              <a:spcAft>
                <a:spcPts val="600"/>
              </a:spcAft>
              <a:defRPr sz="1200">
                <a:solidFill>
                  <a:srgbClr val="D29922"/>
                </a:solidFill>
              </a:defRPr>
            </a:pPr>
            <a:r>
              <a:t>Explicit demo operator approval keeps that alert visible at medium / 0.60. Registry is empty by default: this is triage, not improved detection accuracy.</a:t>
            </a:r>
          </a:p>
          <a:p>
            <a:pPr>
              <a:spcAft>
                <a:spcPts val="600"/>
              </a:spcAft>
              <a:defRPr sz="1400">
                <a:solidFill>
                  <a:srgbClr val="9DA5B0"/>
                </a:solidFill>
              </a:defRPr>
            </a:pPr>
            <a:r>
              <a:t>The allowlist count is not a result either: ALLOWLIST is operator-curated against the same telemetry IPs the generator emits, so “zero FPs after allowlisting” is partly circular.</a:t>
            </a:r>
          </a:p>
          <a:p>
            <a:pPr>
              <a:spcAft>
                <a:spcPts val="600"/>
              </a:spcAft>
              <a:defRPr sz="1400">
                <a:solidFill>
                  <a:srgbClr val="D29922"/>
                </a:solidFill>
              </a:defRPr>
            </a:pPr>
            <a:r>
              <a:t>The shipped ML tier under the same pressure: 79 ml_flow_suspicious alerts, 59 on designated benign hosts. This is the measured reason the rules tier stays primary and the ML tier is quorum-gated.</a:t>
            </a:r>
          </a:p>
          <a:p>
            <a:pPr>
              <a:spcAft>
                <a:spcPts val="600"/>
              </a:spcAft>
              <a:defRPr sz="1400">
                <a:solidFill>
                  <a:srgbClr val="E6EDF3"/>
                </a:solidFill>
              </a:defRPr>
            </a:pPr>
            <a:r>
              <a:t>Maturity signal worth quoting: per-flow ML on bare SYN packets produced 3,021 alerts; excluding bare SYNs at the tier boundary brought it to 20, all on true attack hosts.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The models — measured, including the negative results</a:t>
            </a:r>
          </a:p>
          <a:p>
            <a:pPr>
              <a:defRPr sz="1400">
                <a:solidFill>
                  <a:srgbClr val="9DA5B0"/>
                </a:solidFill>
              </a:defRPr>
            </a:pPr>
            <a:r>
              <a:t>Synthetic evaluation; new replay experiment holds out t ≥ 420 s</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450">
                <a:solidFill>
                  <a:srgbClr val="E6EDF3"/>
                </a:solidFill>
              </a:defRPr>
            </a:pPr>
            <a:r>
              <a:t>Replay experiment: shipped vs new model flags 35/541 vs 2/541 benign flows; both detect 60/75 malicious flows at 0.95. New fit holds out t ≥ 420 s; old model exposure is unverified. Synthetic only; shipped model unchanged.</a:t>
            </a:r>
          </a:p>
          <a:p>
            <a:pPr>
              <a:spcAft>
                <a:spcPts val="600"/>
              </a:spcAft>
              <a:defRPr sz="1450">
                <a:solidFill>
                  <a:srgbClr val="58A6FF"/>
                </a:solidFill>
              </a:defRPr>
            </a:pPr>
            <a:r>
              <a:t>Category 5–7 (models567/eval.json) — four of six work:</a:t>
            </a:r>
          </a:p>
          <a:p>
            <a:pPr lvl="1">
              <a:spcAft>
                <a:spcPts val="600"/>
              </a:spcAft>
              <a:defRPr sz="1250">
                <a:solidFill>
                  <a:srgbClr val="3FB950"/>
                </a:solidFill>
              </a:defRPr>
            </a:pPr>
            <a:r>
              <a:t>encrypted_xgb, sequence_cnn, scan_rf and exfil_xgb all reach recall 1.000 at 0 benign FP on the temporal holdout (t ≥ 390 s).</a:t>
            </a:r>
          </a:p>
          <a:p>
            <a:pPr lvl="1">
              <a:spcAft>
                <a:spcPts val="600"/>
              </a:spcAft>
              <a:defRPr sz="1250">
                <a:solidFill>
                  <a:srgbClr val="D29922"/>
                </a:solidFill>
              </a:defRPr>
            </a:pPr>
            <a:r>
              <a:t>The other two are the IsolationForest pair, and they are a MEASURED NEGATIVE RESULT, not a tuning issue: they detect every malicious row, but only at thresholds that also fire on 2–6% of benign windows.</a:t>
            </a:r>
          </a:p>
          <a:p>
            <a:pPr lvl="1">
              <a:spcAft>
                <a:spcPts val="600"/>
              </a:spcAft>
              <a:defRPr sz="1250">
                <a:solidFill>
                  <a:srgbClr val="E6EDF3"/>
                </a:solidFill>
              </a:defRPr>
            </a:pPr>
            <a:r>
              <a:t>Classifier recall remains 0.000. Serving now attaches raw anomaly scores only to supervised alerts corroborated by a same-window rule; no standalone IF alerts.</a:t>
            </a:r>
          </a:p>
          <a:p>
            <a:pPr>
              <a:spcAft>
                <a:spcPts val="600"/>
              </a:spcAft>
              <a:defRPr sz="1450">
                <a:solidFill>
                  <a:srgbClr val="E6EDF3"/>
                </a:solidFill>
              </a:defRPr>
            </a:pPr>
            <a:r>
              <a:t>The more interesting half: scan_rf and exfil_xgb used to read 0.000 too, and that was not a model failure — the split placed every malicious scan and exfil row in training, so the holdout had nothing to score. Once attack bursts landed on both sides of the split, the same architectures scored perfectly. “Unmeasurable” and “broken” are different claims.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The DGA character CNN — the strongest model result in the repo</a:t>
            </a:r>
          </a:p>
          <a:p>
            <a:pPr>
              <a:defRPr sz="1400">
                <a:solidFill>
                  <a:srgbClr val="9DA5B0"/>
                </a:solidFill>
              </a:defRPr>
            </a:pPr>
            <a:r>
              <a:t>numpy only, 4,930 parameters, no torch, no GPU</a:t>
            </a:r>
          </a:p>
        </p:txBody>
      </p:sp>
      <p:graphicFrame>
        <p:nvGraphicFramePr>
          <p:cNvPr id="4" name="Table 3"/>
          <p:cNvGraphicFramePr>
            <a:graphicFrameLocks noGrp="1"/>
          </p:cNvGraphicFramePr>
          <p:nvPr/>
        </p:nvGraphicFramePr>
        <p:xfrm>
          <a:off x="502920" y="1371600"/>
          <a:ext cx="5852158" cy="1243584"/>
        </p:xfrm>
        <a:graphic>
          <a:graphicData uri="http://schemas.openxmlformats.org/drawingml/2006/table">
            <a:tbl>
              <a:tblPr firstRow="1" bandRow="1">
                <a:tableStyleId>{5C22544A-7EE6-4342-B048-85BDC9FD1C3A}</a:tableStyleId>
              </a:tblPr>
              <a:tblGrid>
                <a:gridCol w="3430576"/>
                <a:gridCol w="1210791"/>
                <a:gridCol w="1210791"/>
              </a:tblGrid>
              <a:tr h="310896">
                <a:tc>
                  <a:txBody>
                    <a:bodyPr/>
                    <a:lstStyle/>
                    <a:p>
                      <a:pPr>
                        <a:defRPr sz="1300" b="1">
                          <a:solidFill>
                            <a:srgbClr val="58A6FF"/>
                          </a:solidFill>
                        </a:defRPr>
                      </a:pPr>
                      <a:r>
                        <a:t>Held-out family</a:t>
                      </a:r>
                    </a:p>
                  </a:txBody>
                  <a:tcPr marL="73152" marR="54864" marT="18288" marB="18288" anchor="ctr">
                    <a:solidFill>
                      <a:srgbClr val="1C222B"/>
                    </a:solidFill>
                  </a:tcPr>
                </a:tc>
                <a:tc>
                  <a:txBody>
                    <a:bodyPr/>
                    <a:lstStyle/>
                    <a:p>
                      <a:pPr>
                        <a:defRPr sz="1300" b="1">
                          <a:solidFill>
                            <a:srgbClr val="58A6FF"/>
                          </a:solidFill>
                        </a:defRPr>
                      </a:pPr>
                      <a:r>
                        <a:t>CNN recall</a:t>
                      </a:r>
                    </a:p>
                  </a:txBody>
                  <a:tcPr marL="73152" marR="54864" marT="18288" marB="18288" anchor="ctr">
                    <a:solidFill>
                      <a:srgbClr val="1C222B"/>
                    </a:solidFill>
                  </a:tcPr>
                </a:tc>
                <a:tc>
                  <a:txBody>
                    <a:bodyPr/>
                    <a:lstStyle/>
                    <a:p>
                      <a:pPr>
                        <a:defRPr sz="1300" b="1">
                          <a:solidFill>
                            <a:srgbClr val="58A6FF"/>
                          </a:solidFill>
                        </a:defRPr>
                      </a:pPr>
                      <a:r>
                        <a:t>Rule recall</a:t>
                      </a:r>
                    </a:p>
                  </a:txBody>
                  <a:tcPr marL="73152" marR="54864" marT="18288" marB="18288" anchor="ctr">
                    <a:solidFill>
                      <a:srgbClr val="1C222B"/>
                    </a:solidFill>
                  </a:tcPr>
                </a:tc>
              </a:tr>
              <a:tr h="310896">
                <a:tc>
                  <a:txBody>
                    <a:bodyPr/>
                    <a:lstStyle/>
                    <a:p>
                      <a:pPr>
                        <a:defRPr sz="1300" b="0">
                          <a:solidFill>
                            <a:srgbClr val="E6EDF3"/>
                          </a:solidFill>
                        </a:defRPr>
                      </a:pPr>
                      <a:r>
                        <a:t>hex_like (same kind, unseen family)</a:t>
                      </a:r>
                    </a:p>
                  </a:txBody>
                  <a:tcPr marL="73152" marR="54864" marT="18288" marB="18288" anchor="ctr">
                    <a:solidFill>
                      <a:srgbClr val="161B22"/>
                    </a:solidFill>
                  </a:tcPr>
                </a:tc>
                <a:tc>
                  <a:txBody>
                    <a:bodyPr/>
                    <a:lstStyle/>
                    <a:p>
                      <a:pPr>
                        <a:defRPr sz="1300" b="0">
                          <a:solidFill>
                            <a:srgbClr val="E6EDF3"/>
                          </a:solidFill>
                        </a:defRPr>
                      </a:pPr>
                      <a:r>
                        <a:t>1.000</a:t>
                      </a:r>
                    </a:p>
                  </a:txBody>
                  <a:tcPr marL="73152" marR="54864" marT="18288" marB="18288" anchor="ctr">
                    <a:solidFill>
                      <a:srgbClr val="161B22"/>
                    </a:solidFill>
                  </a:tcPr>
                </a:tc>
                <a:tc>
                  <a:txBody>
                    <a:bodyPr/>
                    <a:lstStyle/>
                    <a:p>
                      <a:pPr>
                        <a:defRPr sz="1300" b="0">
                          <a:solidFill>
                            <a:srgbClr val="E6EDF3"/>
                          </a:solidFill>
                        </a:defRPr>
                      </a:pPr>
                      <a:r>
                        <a:t>0.473</a:t>
                      </a:r>
                    </a:p>
                  </a:txBody>
                  <a:tcPr marL="73152" marR="54864" marT="18288" marB="18288" anchor="ctr">
                    <a:solidFill>
                      <a:srgbClr val="161B22"/>
                    </a:solidFill>
                  </a:tcPr>
                </a:tc>
              </a:tr>
              <a:tr h="310896">
                <a:tc>
                  <a:txBody>
                    <a:bodyPr/>
                    <a:lstStyle/>
                    <a:p>
                      <a:pPr>
                        <a:defRPr sz="1300" b="0">
                          <a:solidFill>
                            <a:srgbClr val="E6EDF3"/>
                          </a:solidFill>
                        </a:defRPr>
                      </a:pPr>
                      <a:r>
                        <a:t>dictionary_pair (different kind)</a:t>
                      </a:r>
                    </a:p>
                  </a:txBody>
                  <a:tcPr marL="73152" marR="54864" marT="18288" marB="18288" anchor="ctr">
                    <a:solidFill>
                      <a:srgbClr val="161B22"/>
                    </a:solidFill>
                  </a:tcPr>
                </a:tc>
                <a:tc>
                  <a:txBody>
                    <a:bodyPr/>
                    <a:lstStyle/>
                    <a:p>
                      <a:pPr>
                        <a:defRPr sz="1300" b="0">
                          <a:solidFill>
                            <a:srgbClr val="E6EDF3"/>
                          </a:solidFill>
                        </a:defRPr>
                      </a:pPr>
                      <a:r>
                        <a:t>0.007</a:t>
                      </a:r>
                    </a:p>
                  </a:txBody>
                  <a:tcPr marL="73152" marR="54864" marT="18288" marB="18288" anchor="ctr">
                    <a:solidFill>
                      <a:srgbClr val="161B22"/>
                    </a:solidFill>
                  </a:tcPr>
                </a:tc>
                <a:tc>
                  <a:txBody>
                    <a:bodyPr/>
                    <a:lstStyle/>
                    <a:p>
                      <a:pPr>
                        <a:defRPr sz="1300" b="0">
                          <a:solidFill>
                            <a:srgbClr val="E6EDF3"/>
                          </a:solidFill>
                        </a:defRPr>
                      </a:pPr>
                      <a:r>
                        <a:t>0.004</a:t>
                      </a:r>
                    </a:p>
                  </a:txBody>
                  <a:tcPr marL="73152" marR="54864" marT="18288" marB="18288" anchor="ctr">
                    <a:solidFill>
                      <a:srgbClr val="161B22"/>
                    </a:solidFill>
                  </a:tcPr>
                </a:tc>
              </a:tr>
              <a:tr h="310896">
                <a:tc>
                  <a:txBody>
                    <a:bodyPr/>
                    <a:lstStyle/>
                    <a:p>
                      <a:pPr>
                        <a:defRPr sz="1300" b="0">
                          <a:solidFill>
                            <a:srgbClr val="E6EDF3"/>
                          </a:solidFill>
                        </a:defRPr>
                      </a:pPr>
                      <a:r>
                        <a:t>benign FP rate</a:t>
                      </a:r>
                    </a:p>
                  </a:txBody>
                  <a:tcPr marL="73152" marR="54864" marT="18288" marB="18288" anchor="ctr">
                    <a:solidFill>
                      <a:srgbClr val="161B22"/>
                    </a:solidFill>
                  </a:tcPr>
                </a:tc>
                <a:tc>
                  <a:txBody>
                    <a:bodyPr/>
                    <a:lstStyle/>
                    <a:p>
                      <a:pPr>
                        <a:defRPr sz="1300" b="0">
                          <a:solidFill>
                            <a:srgbClr val="E6EDF3"/>
                          </a:solidFill>
                        </a:defRPr>
                      </a:pPr>
                      <a:r>
                        <a:t>0.001</a:t>
                      </a:r>
                    </a:p>
                  </a:txBody>
                  <a:tcPr marL="73152" marR="54864" marT="18288" marB="18288" anchor="ctr">
                    <a:solidFill>
                      <a:srgbClr val="161B22"/>
                    </a:solidFill>
                  </a:tcPr>
                </a:tc>
                <a:tc>
                  <a:txBody>
                    <a:bodyPr/>
                    <a:lstStyle/>
                    <a:p>
                      <a:pPr>
                        <a:defRPr sz="1300" b="0">
                          <a:solidFill>
                            <a:srgbClr val="E6EDF3"/>
                          </a:solidFill>
                        </a:defRPr>
                      </a:pPr>
                      <a:r>
                        <a:t>0.003</a:t>
                      </a:r>
                    </a:p>
                  </a:txBody>
                  <a:tcPr marL="73152" marR="54864" marT="18288" marB="18288" anchor="ctr">
                    <a:solidFill>
                      <a:srgbClr val="161B22"/>
                    </a:solidFill>
                  </a:tcPr>
                </a:tc>
              </a:tr>
            </a:tbl>
          </a:graphicData>
        </a:graphic>
      </p:graphicFrame>
      <p:sp>
        <p:nvSpPr>
          <p:cNvPr id="5" name="TextBox 4"/>
          <p:cNvSpPr txBox="1"/>
          <p:nvPr/>
        </p:nvSpPr>
        <p:spPr>
          <a:xfrm>
            <a:off x="6675120" y="1371600"/>
            <a:ext cx="5" cy="5166360"/>
          </a:xfrm>
          <a:prstGeom prst="rect">
            <a:avLst/>
          </a:prstGeom>
          <a:noFill/>
        </p:spPr>
        <p:txBody>
          <a:bodyPr wrap="square">
            <a:spAutoFit/>
          </a:bodyPr>
          <a:lstStyle/>
          <a:p>
            <a:pPr>
              <a:spcAft>
                <a:spcPts val="600"/>
              </a:spcAft>
              <a:defRPr sz="1350">
                <a:solidFill>
                  <a:srgbClr val="9DA5B0"/>
                </a:solidFill>
              </a:defRPr>
            </a:pPr>
            <a:r>
              <a:t>Family-held-out: one family of each kind is held out entirely.</a:t>
            </a:r>
          </a:p>
          <a:p>
            <a:pPr>
              <a:spcAft>
                <a:spcPts val="600"/>
              </a:spcAft>
              <a:defRPr sz="1350">
                <a:solidFill>
                  <a:srgbClr val="E6EDF3"/>
                </a:solidFill>
              </a:defRPr>
            </a:pPr>
            <a:r>
              <a:t>On the demo capture the CNN caught a real DGA query the rules called benign — 8yuxczaumapqpp, entropy 3.182 against a 3.3 gate.</a:t>
            </a:r>
          </a:p>
          <a:p>
            <a:pPr>
              <a:spcAft>
                <a:spcPts val="600"/>
              </a:spcAft>
              <a:defRPr sz="1350">
                <a:solidFill>
                  <a:srgbClr val="E6EDF3"/>
                </a:solidFill>
              </a:defRPr>
            </a:pPr>
            <a:r>
              <a:t>The dictionary row is presented too: morphology alone cannot settle dictionary DGA, which is why the CNN is a quorum-gated confirmer, never critical.</a:t>
            </a:r>
          </a:p>
          <a:p>
            <a:pPr>
              <a:spcAft>
                <a:spcPts val="600"/>
              </a:spcAft>
              <a:defRPr sz="1350">
                <a:solidFill>
                  <a:srgbClr val="9DA5B0"/>
                </a:solidFill>
              </a:defRPr>
            </a:pPr>
            <a:r>
              <a:t>Its analytic gradients match finite differences to 7e-09 — a real conv1d, with hand-written backprop, not a framework call.</a:t>
            </a:r>
          </a:p>
        </p:txBody>
      </p:sp>
      <p:sp>
        <p:nvSpPr>
          <p:cNvPr id="6" name="Rounded Rectangle 5"/>
          <p:cNvSpPr/>
          <p:nvPr/>
        </p:nvSpPr>
        <p:spPr>
          <a:xfrm>
            <a:off x="502920" y="4206240"/>
            <a:ext cx="11185855" cy="868680"/>
          </a:xfrm>
          <a:prstGeom prst="roundRect">
            <a:avLst/>
          </a:prstGeom>
          <a:solidFill>
            <a:srgbClr val="1A160E"/>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4297679"/>
            <a:ext cx="10820095" cy="685800"/>
          </a:xfrm>
          <a:prstGeom prst="rect">
            <a:avLst/>
          </a:prstGeom>
          <a:noFill/>
        </p:spPr>
        <p:txBody>
          <a:bodyPr wrap="square">
            <a:spAutoFit/>
          </a:bodyPr>
          <a:lstStyle/>
          <a:p>
            <a:pPr>
              <a:defRPr sz="1500" i="1">
                <a:solidFill>
                  <a:srgbClr val="3FB950"/>
                </a:solidFill>
              </a:defRPr>
            </a:pPr>
            <a:r>
              <a:t>“On our demo capture the CNN caught a real DGA query the rules called benign — entropy 3.182 against a 3.3 gate. That miss is caused by the exact short-string entropy bias we documented before we built the model.”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Scored as shipped on a real external corpus</a:t>
            </a:r>
          </a:p>
          <a:p>
            <a:pPr>
              <a:defRPr sz="1400">
                <a:solidFill>
                  <a:srgbClr val="9DA5B0"/>
                </a:solidFill>
              </a:defRPr>
            </a:pPr>
            <a:r>
              <a:t>andrewaeva/DGA · 694,173 real DGA domains (8 families) vs 1,000,000 Alexa domains</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400">
                <a:solidFill>
                  <a:srgbClr val="58A6FF"/>
                </a:solidFill>
              </a:defRPr>
            </a:pPr>
            <a:r>
              <a:t>The rules have a blind spot we predicted:</a:t>
            </a:r>
          </a:p>
          <a:p>
            <a:pPr lvl="1">
              <a:spcAft>
                <a:spcPts val="600"/>
              </a:spcAft>
              <a:defRPr sz="1200">
                <a:solidFill>
                  <a:srgbClr val="E6EDF3"/>
                </a:solidFill>
              </a:defRPr>
            </a:pPr>
            <a:r>
              <a:t>the entropy gate’s 10-character floor scores 0.019 / 0.000 TPR on conficker and pushdo (median labels 8 chars); the CNN, which has no floor, scores 0.886 / 0.446 on exactly those families.</a:t>
            </a:r>
          </a:p>
          <a:p>
            <a:pPr>
              <a:spcAft>
                <a:spcPts val="600"/>
              </a:spcAft>
              <a:defRPr sz="1400">
                <a:solidFill>
                  <a:srgbClr val="D29922"/>
                </a:solidFill>
              </a:defRPr>
            </a:pPr>
            <a:r>
              <a:t>The CNN alone is not deployable:</a:t>
            </a:r>
          </a:p>
          <a:p>
            <a:pPr lvl="1">
              <a:spcAft>
                <a:spcPts val="600"/>
              </a:spcAft>
              <a:defRPr sz="1200">
                <a:solidFill>
                  <a:srgbClr val="E6EDF3"/>
                </a:solidFill>
              </a:defRPr>
            </a:pPr>
            <a:r>
              <a:t>its per-string FP rate on 1M real benign domains is 16.5% — real hostnames include ccmhw, 7ri-rj, 059455, which no morphology model separates from DGA. That is the measured reason the quorum exists.</a:t>
            </a:r>
          </a:p>
          <a:p>
            <a:pPr>
              <a:spcAft>
                <a:spcPts val="600"/>
              </a:spcAft>
              <a:defRPr sz="1400">
                <a:solidFill>
                  <a:srgbClr val="58A6FF"/>
                </a:solidFill>
              </a:defRPr>
            </a:pPr>
            <a:r>
              <a:t>The shipped quorum is a measured constant, not a guess:</a:t>
            </a:r>
          </a:p>
          <a:p>
            <a:pPr lvl="1">
              <a:spcAft>
                <a:spcPts val="600"/>
              </a:spcAft>
              <a:defRPr sz="1200">
                <a:solidFill>
                  <a:srgbClr val="E6EDF3"/>
                </a:solidFill>
              </a:defRPr>
            </a:pPr>
            <a:r>
              <a:t>swept against 1M benign queries: 17.3 alerts/hour on a purely benign host at k=2, 0.46 at k=4 with 7 of 8 families still detected.</a:t>
            </a:r>
          </a:p>
          <a:p>
            <a:pPr lvl="1">
              <a:spcAft>
                <a:spcPts val="600"/>
              </a:spcAft>
              <a:defRPr sz="1200">
                <a:solidFill>
                  <a:srgbClr val="D29922"/>
                </a:solidFill>
              </a:defRPr>
            </a:pPr>
            <a:r>
              <a:t>The honest cost, said out loud: at k=4 the demo capture no longer shows a CNN-only alert — the sensor that cried wolf 17×/hour was worse than missing one label.</a:t>
            </a:r>
          </a:p>
          <a:p>
            <a:pPr>
              <a:spcAft>
                <a:spcPts val="600"/>
              </a:spcAft>
              <a:defRPr sz="1400">
                <a:solidFill>
                  <a:srgbClr val="9DA5B0"/>
                </a:solidFill>
              </a:defRPr>
            </a:pPr>
            <a:r>
              <a:t>Also owned: rovnix and matsnu are not separated per-string (0.226 / 0.257) and no CNN threshold fixes it; mixed-host precision at 5% DGA prevalence is 0.171. The layered policy is what keeps the benign case quiet, not the CNN alone.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Validated against real malware — IoT-23</a:t>
            </a:r>
          </a:p>
          <a:p>
            <a:pPr>
              <a:defRPr sz="1400">
                <a:solidFill>
                  <a:srgbClr val="9DA5B0"/>
                </a:solidFill>
              </a:defRPr>
            </a:pPr>
            <a:r>
              <a:t>CTU Stratosphere Laboratory, 2020, CC-BY-4.0 · shipped detector, nothing retuned</a:t>
            </a:r>
          </a:p>
        </p:txBody>
      </p:sp>
      <p:graphicFrame>
        <p:nvGraphicFramePr>
          <p:cNvPr id="4" name="Table 3"/>
          <p:cNvGraphicFramePr>
            <a:graphicFrameLocks noGrp="1"/>
          </p:cNvGraphicFramePr>
          <p:nvPr/>
        </p:nvGraphicFramePr>
        <p:xfrm>
          <a:off x="502920" y="1371600"/>
          <a:ext cx="11155677" cy="1554480"/>
        </p:xfrm>
        <a:graphic>
          <a:graphicData uri="http://schemas.openxmlformats.org/drawingml/2006/table">
            <a:tbl>
              <a:tblPr firstRow="1" bandRow="1">
                <a:tableStyleId>{5C22544A-7EE6-4342-B048-85BDC9FD1C3A}</a:tableStyleId>
              </a:tblPr>
              <a:tblGrid>
                <a:gridCol w="1890793"/>
                <a:gridCol w="1418094"/>
                <a:gridCol w="1229015"/>
                <a:gridCol w="3781586"/>
                <a:gridCol w="2836189"/>
              </a:tblGrid>
              <a:tr h="310896">
                <a:tc>
                  <a:txBody>
                    <a:bodyPr/>
                    <a:lstStyle/>
                    <a:p>
                      <a:pPr>
                        <a:defRPr sz="1250" b="1">
                          <a:solidFill>
                            <a:srgbClr val="58A6FF"/>
                          </a:solidFill>
                        </a:defRPr>
                      </a:pPr>
                      <a:r>
                        <a:t>Scenario</a:t>
                      </a:r>
                    </a:p>
                  </a:txBody>
                  <a:tcPr marL="73152" marR="54864" marT="18288" marB="18288" anchor="ctr">
                    <a:solidFill>
                      <a:srgbClr val="1C222B"/>
                    </a:solidFill>
                  </a:tcPr>
                </a:tc>
                <a:tc>
                  <a:txBody>
                    <a:bodyPr/>
                    <a:lstStyle/>
                    <a:p>
                      <a:pPr>
                        <a:defRPr sz="1250" b="1">
                          <a:solidFill>
                            <a:srgbClr val="58A6FF"/>
                          </a:solidFill>
                        </a:defRPr>
                      </a:pPr>
                      <a:r>
                        <a:t>Malware</a:t>
                      </a:r>
                    </a:p>
                  </a:txBody>
                  <a:tcPr marL="73152" marR="54864" marT="18288" marB="18288" anchor="ctr">
                    <a:solidFill>
                      <a:srgbClr val="1C222B"/>
                    </a:solidFill>
                  </a:tcPr>
                </a:tc>
                <a:tc>
                  <a:txBody>
                    <a:bodyPr/>
                    <a:lstStyle/>
                    <a:p>
                      <a:pPr>
                        <a:defRPr sz="1250" b="1">
                          <a:solidFill>
                            <a:srgbClr val="58A6FF"/>
                          </a:solidFill>
                        </a:defRPr>
                      </a:pPr>
                      <a:r>
                        <a:t>Alerts</a:t>
                      </a:r>
                    </a:p>
                  </a:txBody>
                  <a:tcPr marL="73152" marR="54864" marT="18288" marB="18288" anchor="ctr">
                    <a:solidFill>
                      <a:srgbClr val="1C222B"/>
                    </a:solidFill>
                  </a:tcPr>
                </a:tc>
                <a:tc>
                  <a:txBody>
                    <a:bodyPr/>
                    <a:lstStyle/>
                    <a:p>
                      <a:pPr>
                        <a:defRPr sz="1250" b="1">
                          <a:solidFill>
                            <a:srgbClr val="58A6FF"/>
                          </a:solidFill>
                        </a:defRPr>
                      </a:pPr>
                      <a:r>
                        <a:t>Host recall</a:t>
                      </a:r>
                    </a:p>
                  </a:txBody>
                  <a:tcPr marL="73152" marR="54864" marT="18288" marB="18288" anchor="ctr">
                    <a:solidFill>
                      <a:srgbClr val="1C222B"/>
                    </a:solidFill>
                  </a:tcPr>
                </a:tc>
                <a:tc>
                  <a:txBody>
                    <a:bodyPr/>
                    <a:lstStyle/>
                    <a:p>
                      <a:pPr>
                        <a:defRPr sz="1250" b="1">
                          <a:solidFill>
                            <a:srgbClr val="58A6FF"/>
                          </a:solidFill>
                        </a:defRPr>
                      </a:pPr>
                      <a:r>
                        <a:t>Host precision</a:t>
                      </a:r>
                    </a:p>
                  </a:txBody>
                  <a:tcPr marL="73152" marR="54864" marT="18288" marB="18288" anchor="ctr">
                    <a:solidFill>
                      <a:srgbClr val="1C222B"/>
                    </a:solidFill>
                  </a:tcPr>
                </a:tc>
              </a:tr>
              <a:tr h="310896">
                <a:tc>
                  <a:txBody>
                    <a:bodyPr/>
                    <a:lstStyle/>
                    <a:p>
                      <a:pPr>
                        <a:defRPr sz="1250" b="0">
                          <a:solidFill>
                            <a:srgbClr val="E6EDF3"/>
                          </a:solidFill>
                        </a:defRPr>
                      </a:pPr>
                      <a:r>
                        <a:t>Capture-8-1</a:t>
                      </a:r>
                    </a:p>
                  </a:txBody>
                  <a:tcPr marL="73152" marR="54864" marT="18288" marB="18288" anchor="ctr">
                    <a:solidFill>
                      <a:srgbClr val="161B22"/>
                    </a:solidFill>
                  </a:tcPr>
                </a:tc>
                <a:tc>
                  <a:txBody>
                    <a:bodyPr/>
                    <a:lstStyle/>
                    <a:p>
                      <a:pPr>
                        <a:defRPr sz="1250" b="0">
                          <a:solidFill>
                            <a:srgbClr val="E6EDF3"/>
                          </a:solidFill>
                        </a:defRPr>
                      </a:pPr>
                      <a:r>
                        <a:t>Hakai</a:t>
                      </a:r>
                    </a:p>
                  </a:txBody>
                  <a:tcPr marL="73152" marR="54864" marT="18288" marB="18288" anchor="ctr">
                    <a:solidFill>
                      <a:srgbClr val="161B22"/>
                    </a:solidFill>
                  </a:tcPr>
                </a:tc>
                <a:tc>
                  <a:txBody>
                    <a:bodyPr/>
                    <a:lstStyle/>
                    <a:p>
                      <a:pPr>
                        <a:defRPr sz="1250" b="0">
                          <a:solidFill>
                            <a:srgbClr val="E6EDF3"/>
                          </a:solidFill>
                        </a:defRPr>
                      </a:pPr>
                      <a:r>
                        <a:t>206</a:t>
                      </a:r>
                    </a:p>
                  </a:txBody>
                  <a:tcPr marL="73152" marR="54864" marT="18288" marB="18288" anchor="ctr">
                    <a:solidFill>
                      <a:srgbClr val="161B22"/>
                    </a:solidFill>
                  </a:tcPr>
                </a:tc>
                <a:tc>
                  <a:txBody>
                    <a:bodyPr/>
                    <a:lstStyle/>
                    <a:p>
                      <a:pPr>
                        <a:defRPr sz="1250" b="0">
                          <a:solidFill>
                            <a:srgbClr val="E6EDF3"/>
                          </a:solidFill>
                        </a:defRPr>
                      </a:pPr>
                      <a:r>
                        <a:t>1.000</a:t>
                      </a:r>
                    </a:p>
                  </a:txBody>
                  <a:tcPr marL="73152" marR="54864" marT="18288" marB="18288" anchor="ctr">
                    <a:solidFill>
                      <a:srgbClr val="161B22"/>
                    </a:solidFill>
                  </a:tcPr>
                </a:tc>
                <a:tc>
                  <a:txBody>
                    <a:bodyPr/>
                    <a:lstStyle/>
                    <a:p>
                      <a:pPr>
                        <a:defRPr sz="1250" b="0">
                          <a:solidFill>
                            <a:srgbClr val="E6EDF3"/>
                          </a:solidFill>
                        </a:defRPr>
                      </a:pPr>
                      <a:r>
                        <a:t>1.000</a:t>
                      </a:r>
                    </a:p>
                  </a:txBody>
                  <a:tcPr marL="73152" marR="54864" marT="18288" marB="18288" anchor="ctr">
                    <a:solidFill>
                      <a:srgbClr val="161B22"/>
                    </a:solidFill>
                  </a:tcPr>
                </a:tc>
              </a:tr>
              <a:tr h="310896">
                <a:tc>
                  <a:txBody>
                    <a:bodyPr/>
                    <a:lstStyle/>
                    <a:p>
                      <a:pPr>
                        <a:defRPr sz="1250" b="0">
                          <a:solidFill>
                            <a:srgbClr val="E6EDF3"/>
                          </a:solidFill>
                        </a:defRPr>
                      </a:pPr>
                      <a:r>
                        <a:t>Capture-1-1</a:t>
                      </a:r>
                    </a:p>
                  </a:txBody>
                  <a:tcPr marL="73152" marR="54864" marT="18288" marB="18288" anchor="ctr">
                    <a:solidFill>
                      <a:srgbClr val="161B22"/>
                    </a:solidFill>
                  </a:tcPr>
                </a:tc>
                <a:tc>
                  <a:txBody>
                    <a:bodyPr/>
                    <a:lstStyle/>
                    <a:p>
                      <a:pPr>
                        <a:defRPr sz="1250" b="0">
                          <a:solidFill>
                            <a:srgbClr val="E6EDF3"/>
                          </a:solidFill>
                        </a:defRPr>
                      </a:pPr>
                      <a:r>
                        <a:t>HideNSeek</a:t>
                      </a:r>
                    </a:p>
                  </a:txBody>
                  <a:tcPr marL="73152" marR="54864" marT="18288" marB="18288" anchor="ctr">
                    <a:solidFill>
                      <a:srgbClr val="161B22"/>
                    </a:solidFill>
                  </a:tcPr>
                </a:tc>
                <a:tc>
                  <a:txBody>
                    <a:bodyPr/>
                    <a:lstStyle/>
                    <a:p>
                      <a:pPr>
                        <a:defRPr sz="1250" b="0">
                          <a:solidFill>
                            <a:srgbClr val="E6EDF3"/>
                          </a:solidFill>
                        </a:defRPr>
                      </a:pPr>
                      <a:r>
                        <a:t>38,401</a:t>
                      </a:r>
                    </a:p>
                  </a:txBody>
                  <a:tcPr marL="73152" marR="54864" marT="18288" marB="18288" anchor="ctr">
                    <a:solidFill>
                      <a:srgbClr val="161B22"/>
                    </a:solidFill>
                  </a:tcPr>
                </a:tc>
                <a:tc>
                  <a:txBody>
                    <a:bodyPr/>
                    <a:lstStyle/>
                    <a:p>
                      <a:pPr>
                        <a:defRPr sz="1250" b="0">
                          <a:solidFill>
                            <a:srgbClr val="E6EDF3"/>
                          </a:solidFill>
                        </a:defRPr>
                      </a:pPr>
                      <a:r>
                        <a:t>1.000 (infected host, 0 clean FPs)</a:t>
                      </a:r>
                    </a:p>
                  </a:txBody>
                  <a:tcPr marL="73152" marR="54864" marT="18288" marB="18288" anchor="ctr">
                    <a:solidFill>
                      <a:srgbClr val="161B22"/>
                    </a:solidFill>
                  </a:tcPr>
                </a:tc>
                <a:tc>
                  <a:txBody>
                    <a:bodyPr/>
                    <a:lstStyle/>
                    <a:p>
                      <a:pPr>
                        <a:defRPr sz="1250" b="0">
                          <a:solidFill>
                            <a:srgbClr val="E6EDF3"/>
                          </a:solidFill>
                        </a:defRPr>
                      </a:pPr>
                      <a:r>
                        <a:t>—</a:t>
                      </a:r>
                    </a:p>
                  </a:txBody>
                  <a:tcPr marL="73152" marR="54864" marT="18288" marB="18288" anchor="ctr">
                    <a:solidFill>
                      <a:srgbClr val="161B22"/>
                    </a:solidFill>
                  </a:tcPr>
                </a:tc>
              </a:tr>
              <a:tr h="310896">
                <a:tc>
                  <a:txBody>
                    <a:bodyPr/>
                    <a:lstStyle/>
                    <a:p>
                      <a:pPr>
                        <a:defRPr sz="1250" b="0">
                          <a:solidFill>
                            <a:srgbClr val="E6EDF3"/>
                          </a:solidFill>
                        </a:defRPr>
                      </a:pPr>
                      <a:r>
                        <a:t>Capture-42-1</a:t>
                      </a:r>
                    </a:p>
                  </a:txBody>
                  <a:tcPr marL="73152" marR="54864" marT="18288" marB="18288" anchor="ctr">
                    <a:solidFill>
                      <a:srgbClr val="161B22"/>
                    </a:solidFill>
                  </a:tcPr>
                </a:tc>
                <a:tc>
                  <a:txBody>
                    <a:bodyPr/>
                    <a:lstStyle/>
                    <a:p>
                      <a:pPr>
                        <a:defRPr sz="1250" b="0">
                          <a:solidFill>
                            <a:srgbClr val="E6EDF3"/>
                          </a:solidFill>
                        </a:defRPr>
                      </a:pPr>
                      <a:r>
                        <a:t>Trojan</a:t>
                      </a:r>
                    </a:p>
                  </a:txBody>
                  <a:tcPr marL="73152" marR="54864" marT="18288" marB="18288" anchor="ctr">
                    <a:solidFill>
                      <a:srgbClr val="161B22"/>
                    </a:solidFill>
                  </a:tcPr>
                </a:tc>
                <a:tc>
                  <a:txBody>
                    <a:bodyPr/>
                    <a:lstStyle/>
                    <a:p>
                      <a:pPr>
                        <a:defRPr sz="1250" b="0">
                          <a:solidFill>
                            <a:srgbClr val="E6EDF3"/>
                          </a:solidFill>
                        </a:defRPr>
                      </a:pPr>
                      <a:r>
                        <a:t>0</a:t>
                      </a:r>
                    </a:p>
                  </a:txBody>
                  <a:tcPr marL="73152" marR="54864" marT="18288" marB="18288" anchor="ctr">
                    <a:solidFill>
                      <a:srgbClr val="161B22"/>
                    </a:solidFill>
                  </a:tcPr>
                </a:tc>
                <a:tc>
                  <a:txBody>
                    <a:bodyPr/>
                    <a:lstStyle/>
                    <a:p>
                      <a:pPr>
                        <a:defRPr sz="1250" b="0">
                          <a:solidFill>
                            <a:srgbClr val="E6EDF3"/>
                          </a:solidFill>
                        </a:defRPr>
                      </a:pPr>
                      <a:r>
                        <a:t>0.000 — a total miss</a:t>
                      </a:r>
                    </a:p>
                  </a:txBody>
                  <a:tcPr marL="73152" marR="54864" marT="18288" marB="18288" anchor="ctr">
                    <a:solidFill>
                      <a:srgbClr val="161B22"/>
                    </a:solidFill>
                  </a:tcPr>
                </a:tc>
                <a:tc>
                  <a:txBody>
                    <a:bodyPr/>
                    <a:lstStyle/>
                    <a:p>
                      <a:pPr>
                        <a:defRPr sz="1250" b="0">
                          <a:solidFill>
                            <a:srgbClr val="E6EDF3"/>
                          </a:solidFill>
                        </a:defRPr>
                      </a:pPr>
                      <a:r>
                        <a:t>—</a:t>
                      </a:r>
                    </a:p>
                  </a:txBody>
                  <a:tcPr marL="73152" marR="54864" marT="18288" marB="18288" anchor="ctr">
                    <a:solidFill>
                      <a:srgbClr val="161B22"/>
                    </a:solidFill>
                  </a:tcPr>
                </a:tc>
              </a:tr>
              <a:tr h="310896">
                <a:tc>
                  <a:txBody>
                    <a:bodyPr/>
                    <a:lstStyle/>
                    <a:p>
                      <a:pPr>
                        <a:defRPr sz="1250" b="0">
                          <a:solidFill>
                            <a:srgbClr val="E6EDF3"/>
                          </a:solidFill>
                        </a:defRPr>
                      </a:pPr>
                      <a:r>
                        <a:t>Honeypot-4-1</a:t>
                      </a:r>
                    </a:p>
                  </a:txBody>
                  <a:tcPr marL="73152" marR="54864" marT="18288" marB="18288" anchor="ctr">
                    <a:solidFill>
                      <a:srgbClr val="161B22"/>
                    </a:solidFill>
                  </a:tcPr>
                </a:tc>
                <a:tc>
                  <a:txBody>
                    <a:bodyPr/>
                    <a:lstStyle/>
                    <a:p>
                      <a:pPr>
                        <a:defRPr sz="1250" b="0">
                          <a:solidFill>
                            <a:srgbClr val="E6EDF3"/>
                          </a:solidFill>
                        </a:defRPr>
                      </a:pPr>
                      <a:r>
                        <a:t>benign HUE</a:t>
                      </a:r>
                    </a:p>
                  </a:txBody>
                  <a:tcPr marL="73152" marR="54864" marT="18288" marB="18288" anchor="ctr">
                    <a:solidFill>
                      <a:srgbClr val="161B22"/>
                    </a:solidFill>
                  </a:tcPr>
                </a:tc>
                <a:tc>
                  <a:txBody>
                    <a:bodyPr/>
                    <a:lstStyle/>
                    <a:p>
                      <a:pPr>
                        <a:defRPr sz="1250" b="0">
                          <a:solidFill>
                            <a:srgbClr val="E6EDF3"/>
                          </a:solidFill>
                        </a:defRPr>
                      </a:pPr>
                      <a:r>
                        <a:t>8</a:t>
                      </a:r>
                    </a:p>
                  </a:txBody>
                  <a:tcPr marL="73152" marR="54864" marT="18288" marB="18288" anchor="ctr">
                    <a:solidFill>
                      <a:srgbClr val="161B22"/>
                    </a:solidFill>
                  </a:tcPr>
                </a:tc>
                <a:tc>
                  <a:txBody>
                    <a:bodyPr/>
                    <a:lstStyle/>
                    <a:p>
                      <a:pPr>
                        <a:defRPr sz="1250" b="0">
                          <a:solidFill>
                            <a:srgbClr val="E6EDF3"/>
                          </a:solidFill>
                        </a:defRPr>
                      </a:pPr>
                      <a:r>
                        <a:t>—</a:t>
                      </a:r>
                    </a:p>
                  </a:txBody>
                  <a:tcPr marL="73152" marR="54864" marT="18288" marB="18288" anchor="ctr">
                    <a:solidFill>
                      <a:srgbClr val="161B22"/>
                    </a:solidFill>
                  </a:tcPr>
                </a:tc>
                <a:tc>
                  <a:txBody>
                    <a:bodyPr/>
                    <a:lstStyle/>
                    <a:p>
                      <a:pPr>
                        <a:defRPr sz="1250" b="0">
                          <a:solidFill>
                            <a:srgbClr val="E6EDF3"/>
                          </a:solidFill>
                        </a:defRPr>
                      </a:pPr>
                      <a:r>
                        <a:t>0.000 — real FP</a:t>
                      </a:r>
                    </a:p>
                  </a:txBody>
                  <a:tcPr marL="73152" marR="54864" marT="18288" marB="18288" anchor="ctr">
                    <a:solidFill>
                      <a:srgbClr val="161B22"/>
                    </a:solidFill>
                  </a:tcPr>
                </a:tc>
              </a:tr>
            </a:tbl>
          </a:graphicData>
        </a:graphic>
      </p:graphicFrame>
      <p:sp>
        <p:nvSpPr>
          <p:cNvPr id="5" name="TextBox 4"/>
          <p:cNvSpPr txBox="1"/>
          <p:nvPr/>
        </p:nvSpPr>
        <p:spPr>
          <a:xfrm>
            <a:off x="502920" y="3566160"/>
            <a:ext cx="11185855" cy="2971800"/>
          </a:xfrm>
          <a:prstGeom prst="rect">
            <a:avLst/>
          </a:prstGeom>
          <a:noFill/>
        </p:spPr>
        <p:txBody>
          <a:bodyPr wrap="square">
            <a:spAutoFit/>
          </a:bodyPr>
          <a:lstStyle/>
          <a:p>
            <a:pPr>
              <a:spcAft>
                <a:spcPts val="600"/>
              </a:spcAft>
              <a:defRPr sz="1350">
                <a:solidFill>
                  <a:srgbClr val="E6EDF3"/>
                </a:solidFill>
              </a:defRPr>
            </a:pPr>
            <a:r>
              <a:t>Scoring is per host, not per flow: Mirai worm-spread makes one infected host emit tens of thousands of “benign” scan flows, so per-flow precision looks like 0.017 when the detector is right. A host is the unit an analyst responds to.</a:t>
            </a:r>
          </a:p>
          <a:p>
            <a:pPr>
              <a:spcAft>
                <a:spcPts val="600"/>
              </a:spcAft>
              <a:defRPr sz="1350">
                <a:solidFill>
                  <a:srgbClr val="3FB950"/>
                </a:solidFill>
              </a:defRPr>
            </a:pPr>
            <a:r>
              <a:t>The C2-beaconing detector generalises to real malware with no retuning — perfect host recall on two different families on two different captures. Periodicity is periodicity regardless of the botnet.</a:t>
            </a:r>
          </a:p>
          <a:p>
            <a:pPr>
              <a:spcAft>
                <a:spcPts val="600"/>
              </a:spcAft>
              <a:defRPr sz="1350">
                <a:solidFill>
                  <a:srgbClr val="D29922"/>
                </a:solidFill>
              </a:defRPr>
            </a:pPr>
            <a:r>
              <a:t>A real, honest miss: Capture-42-1 has six malicious C&amp;C flows and we raised zero. Say this before anyone finds it.</a:t>
            </a:r>
          </a:p>
          <a:p>
            <a:pPr>
              <a:spcAft>
                <a:spcPts val="600"/>
              </a:spcAft>
              <a:defRPr sz="1350">
                <a:solidFill>
                  <a:srgbClr val="D29922"/>
                </a:solidFill>
              </a:defRPr>
            </a:pPr>
            <a:r>
              <a:t>A real, structural FP: the benign Philips HUE smart bulb phoning home to Google and AWS fires as C2 beaconing — low-jitter periodic traffic to a small set of cloud destinations is exactly what beaconing looks like one-way. Not a tuning bug; a fundamental confound for a one-way egress monitor.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Gaps — own them before a judge finds them</a:t>
            </a:r>
          </a:p>
          <a:p>
            <a:pPr>
              <a:defRPr sz="1400">
                <a:solidFill>
                  <a:srgbClr val="9DA5B0"/>
                </a:solidFill>
              </a:defRPr>
            </a:pPr>
            <a:r>
              <a:t>Volunteering a limitation reads as rigour; getting caught reads as an overclaim</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400">
                <a:solidFill>
                  <a:srgbClr val="E6EDF3"/>
                </a:solidFill>
              </a:defRPr>
            </a:pPr>
            <a:r>
              <a:t>UDP has source fan-out and shared-target burst proxies with packet rates, counts and prototype trigger thresholds. They need capture calibration. Response size is unavailable, so reflection/amplification is not inferred. Slowloris is a dataset suggestion, not a scored class; its one-way long-lived flow proxy remains future work.</a:t>
            </a:r>
          </a:p>
          <a:p>
            <a:pPr>
              <a:spcAft>
                <a:spcPts val="600"/>
              </a:spcAft>
              <a:defRPr sz="1400">
                <a:solidFill>
                  <a:srgbClr val="E6EDF3"/>
                </a:solidFill>
              </a:defRPr>
            </a:pPr>
            <a:r>
              <a:t>The circularity of our own generator is real and partly answered: temporal splits, published label noise, an external corpus scored as shipped, and the IoT-23 run above — two families, one honest miss, one structural FP.</a:t>
            </a:r>
          </a:p>
          <a:p>
            <a:pPr>
              <a:spcAft>
                <a:spcPts val="600"/>
              </a:spcAft>
              <a:defRPr sz="1400">
                <a:solidFill>
                  <a:srgbClr val="D29922"/>
                </a:solidFill>
              </a:defRPr>
            </a:pPr>
            <a:r>
              <a:t>The stage demo starts the dashboard before paced synthetic FIFO replay; alerts arrive during replay, and sensor status shows heartbeat, last packet, counts and unknown kernel drops honestly. A physical AF_PACKET interface run remains unverified because this container has CapBnd: 0.</a:t>
            </a:r>
          </a:p>
          <a:p>
            <a:pPr>
              <a:spcAft>
                <a:spcPts val="600"/>
              </a:spcAft>
              <a:defRPr sz="1400">
                <a:solidFill>
                  <a:srgbClr val="E6EDF3"/>
                </a:solidFill>
              </a:defRPr>
            </a:pPr>
            <a:r>
              <a:t>240 Mbps is extrapolated from a 0.11 Mbps capture: fair, dissection is O(1) per packet so pkt/s generalises, and the 1-in-N sampling guard exists precisely because the pure-Python ceiling is ~50k pkt/s — above it we degrade coverage deterministically and report the loss rather than hide it.</a:t>
            </a:r>
          </a:p>
          <a:p>
            <a:pPr>
              <a:spcAft>
                <a:spcPts val="600"/>
              </a:spcAft>
              <a:defRPr sz="1400">
                <a:solidFill>
                  <a:srgbClr val="9DA5B0"/>
                </a:solidFill>
              </a:defRPr>
            </a:pPr>
            <a:r>
              <a:t>The IoT-23 category 5–7 models did not fire on any real scenario — still unvalidated on real traffic.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Things in the repo that exist only because of the constraint</a:t>
            </a:r>
          </a:p>
          <a:p>
            <a:pPr>
              <a:defRPr sz="1400">
                <a:solidFill>
                  <a:srgbClr val="9DA5B0"/>
                </a:solidFill>
              </a:defRPr>
            </a:pPr>
            <a:r>
              <a:t>Each is a direct consequence of one-way, not a generic feature</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350">
                <a:solidFill>
                  <a:srgbClr val="E6EDF3"/>
                </a:solidFill>
              </a:defRPr>
            </a:pPr>
            <a:r>
              <a:t>Cross-signal fusion (not asked for): two weak one-way signals become one strong verdict — beacon + known-bad JA4 → confirmed_c2_implant; beacon + DGA → botnet_c2_with_dga. Fire-on-escalation so an incident does not re-fire every window.</a:t>
            </a:r>
          </a:p>
          <a:p>
            <a:pPr>
              <a:spcAft>
                <a:spcPts val="600"/>
              </a:spcAft>
              <a:defRPr sz="1350">
                <a:solidFill>
                  <a:srgbClr val="E6EDF3"/>
                </a:solidFill>
              </a:defRPr>
            </a:pPr>
            <a:r>
              <a:t>Restart-safe fingerprint inventory (--state): without warm-start, a sensor restart blinds novelty detection for another baseline period — exactly the window an attacker would choose. The baseline gate is skipped on warm load.</a:t>
            </a:r>
          </a:p>
          <a:p>
            <a:pPr>
              <a:spcAft>
                <a:spcPts val="600"/>
              </a:spcAft>
              <a:defRPr sz="1350">
                <a:solidFill>
                  <a:srgbClr val="E6EDF3"/>
                </a:solidFill>
              </a:defRPr>
            </a:pPr>
            <a:r>
              <a:t>Baseline poisoning prevention: known-bad TLS handshakes are never fed into the inventory, so an ongoing attack cannot teach the sensor that it is normal.</a:t>
            </a:r>
          </a:p>
          <a:p>
            <a:pPr>
              <a:spcAft>
                <a:spcPts val="600"/>
              </a:spcAft>
              <a:defRPr sz="1350">
                <a:solidFill>
                  <a:srgbClr val="E6EDF3"/>
                </a:solidFill>
              </a:defRPr>
            </a:pPr>
            <a:r>
              <a:t>Operator-curated allowlist, deliberately not auto-learned: auto-learning periodic traffic whitelists existing botnets.</a:t>
            </a:r>
          </a:p>
          <a:p>
            <a:pPr>
              <a:spcAft>
                <a:spcPts val="600"/>
              </a:spcAft>
              <a:defRPr sz="1350">
                <a:solidFill>
                  <a:srgbClr val="E6EDF3"/>
                </a:solidFill>
              </a:defRPr>
            </a:pPr>
            <a:r>
              <a:t>Evidence-scaled statistical gates: sampling CV at n=6 is noisy (a benign process dips under a fixed gate ~2% of the time), so the gate is tight for small n and standard for n ≥ 10. Found by a real benign DNS poll landing at CV 0.2249 against a 0.25 gate.</a:t>
            </a:r>
          </a:p>
          <a:p>
            <a:pPr>
              <a:spcAft>
                <a:spcPts val="600"/>
              </a:spcAft>
              <a:defRPr sz="1350">
                <a:solidFill>
                  <a:srgbClr val="E6EDF3"/>
                </a:solidFill>
              </a:defRPr>
            </a:pPr>
            <a:r>
              <a:t>Every alert carries a human-readable why next to the machine-readable features — a label plus a score is not triageable at 03:00.</a:t>
            </a:r>
          </a:p>
          <a:p>
            <a:pPr>
              <a:spcAft>
                <a:spcPts val="600"/>
              </a:spcAft>
              <a:defRPr sz="1350">
                <a:solidFill>
                  <a:srgbClr val="E6EDF3"/>
                </a:solidFill>
              </a:defRPr>
            </a:pPr>
            <a:r>
              <a:t>A second, independently trained model on a different input type: the DGA CNN reads the string, the flow model reads tabular statistics. Different data, different failure modes, and the CNN’s win is attributable to a documented bias in the rules rather than to “more ML”.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58A6FF"/>
                </a:solidFill>
              </a:defRPr>
            </a:pPr>
            <a:r>
              <a:t>If you only remember three sentences</a:t>
            </a:r>
          </a:p>
        </p:txBody>
      </p:sp>
      <p:sp>
        <p:nvSpPr>
          <p:cNvPr id="4" name="TextBox 3"/>
          <p:cNvSpPr txBox="1"/>
          <p:nvPr/>
        </p:nvSpPr>
        <p:spPr>
          <a:xfrm>
            <a:off x="502920" y="1463040"/>
            <a:ext cx="11185855" cy="5074920"/>
          </a:xfrm>
          <a:prstGeom prst="rect">
            <a:avLst/>
          </a:prstGeom>
          <a:noFill/>
        </p:spPr>
        <p:txBody>
          <a:bodyPr wrap="square">
            <a:spAutoFit/>
          </a:bodyPr>
          <a:lstStyle/>
          <a:p>
            <a:pPr>
              <a:spcAft>
                <a:spcPts val="1600"/>
              </a:spcAft>
              <a:defRPr sz="1900">
                <a:solidFill>
                  <a:srgbClr val="E6EDF3"/>
                </a:solidFill>
              </a:defRPr>
            </a:pPr>
            <a:r>
              <a:t>“Five of the features the problem statement requests are impossible under its own first constraint — we enumerated them, substituted one-way signals, and made the constraint enforceable in CI so the code cannot silently reach for a response that never arrives.”</a:t>
            </a:r>
          </a:p>
          <a:p>
            <a:pPr>
              <a:spcAft>
                <a:spcPts val="1600"/>
              </a:spcAft>
              <a:defRPr sz="1900">
                <a:solidFill>
                  <a:srgbClr val="E6EDF3"/>
                </a:solidFill>
              </a:defRPr>
            </a:pPr>
            <a:r>
              <a:t>“The clock closes our windows, not the traffic — that is the difference between bounded latency and an end-of-run report.”</a:t>
            </a:r>
          </a:p>
          <a:p>
            <a:pPr>
              <a:spcAft>
                <a:spcPts val="1600"/>
              </a:spcAft>
              <a:defRPr sz="1900">
                <a:solidFill>
                  <a:srgbClr val="E6EDF3"/>
                </a:solidFill>
              </a:defRPr>
            </a:pPr>
            <a:r>
              <a:t>“We ran it against real malware on IoT-23, not just our own generator: two families detected with no retuning, one honest miss, and one false positive that is structural to one-way monitoring rather than a bug.”</a:t>
            </a:r>
          </a:p>
        </p:txBody>
      </p:sp>
      <p:sp>
        <p:nvSpPr>
          <p:cNvPr id="5" name="Rounded Rectangle 4"/>
          <p:cNvSpPr/>
          <p:nvPr/>
        </p:nvSpPr>
        <p:spPr>
          <a:xfrm>
            <a:off x="502920" y="5212080"/>
            <a:ext cx="11185855" cy="914400"/>
          </a:xfrm>
          <a:prstGeom prst="roundRect">
            <a:avLst/>
          </a:prstGeom>
          <a:solidFill>
            <a:srgbClr val="141A24"/>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349240"/>
            <a:ext cx="10728655" cy="731520"/>
          </a:xfrm>
          <a:prstGeom prst="rect">
            <a:avLst/>
          </a:prstGeom>
          <a:noFill/>
        </p:spPr>
        <p:txBody>
          <a:bodyPr wrap="square">
            <a:spAutoFit/>
          </a:bodyPr>
          <a:lstStyle/>
          <a:p>
            <a:pPr algn="ctr">
              <a:defRPr sz="1500">
                <a:solidFill>
                  <a:srgbClr val="9DA5B0"/>
                </a:solidFill>
              </a:defRPr>
            </a:pPr>
            <a:r>
              <a:t>Current archive 45 / 67; historical refs 46 / 68 (migration pending) · 6/6 classes · ~50k pkt/s single-core pure Python · no GPU and no response-side fields.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