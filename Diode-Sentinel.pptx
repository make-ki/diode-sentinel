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embeddedFontLst>
    <p:embeddedFont>
      <p:font typeface="Platypi Medium"/>
      <p:regular r:id="rId201314"/>
    </p:embeddedFont>
    <p:embeddedFont>
      <p:font typeface="Source Serif 4"/>
      <p:regular r:id="rId201315"/>
    </p:embeddedFont>
    <p:embeddedFont>
      <p:font typeface="Source Serif 4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jpeg"/><Relationship Id="rId3" Type="http://schemas.openxmlformats.org/officeDocument/2006/relationships/image" Target="../media/image-1002-1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image" Target="../media/image-11-1.png"/><Relationship Id="rId6" Type="http://schemas.openxmlformats.org/officeDocument/2006/relationships/image" Target="../media/image-11-2.svg"/><Relationship Id="rId7" Type="http://schemas.openxmlformats.org/officeDocument/2006/relationships/image" Target="../media/image-11-1.png"/><Relationship Id="rId8" Type="http://schemas.openxmlformats.org/officeDocument/2006/relationships/image" Target="../media/image-11-2.svg"/><Relationship Id="rId9" Type="http://schemas.openxmlformats.org/officeDocument/2006/relationships/image" Target="../media/image-11-1.png"/><Relationship Id="rId10" Type="http://schemas.openxmlformats.org/officeDocument/2006/relationships/image" Target="../media/image-11-2.svg"/><Relationship Id="rId11" Type="http://schemas.openxmlformats.org/officeDocument/2006/relationships/image" Target="../media/image-11-1.png"/><Relationship Id="rId12" Type="http://schemas.openxmlformats.org/officeDocument/2006/relationships/image" Target="../media/image-11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2623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Diode Sentinel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0904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core idea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1475" y="3170535"/>
            <a:ext cx="10868745" cy="1761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Diode Sentinel is a passive, streaming ML pipeline that sits inside the isolated monitoring enclave and watches one-way network traffic — it never sends a single packet back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Pipeline in one line: optical TAP → flow metadata → 5s/60s/10m feature windows → Tier-0 allowlist → Tier-1 triggers → Tier-2 confirmers → fused, MITRE-tagged alerts to the SOC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Works fully encrypted: no handshakes, no probing, no payload decryption — behavior only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Zero latency added to production, zero risk of reverse compromise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5510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Industry Problems We Solve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3791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India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1475" y="3199408"/>
            <a:ext cx="10868745" cy="170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Power grids &amp; nuclear (NTPC, PGCIL load-dispatch, NPCIL — CEA guidelines):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USB-borne or insider malware inside the OT LAN beacons out and scans RTUs/IEDs, hiding inside legitimate SCADA polling traffic that looks "normal" to generic IDS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Defence &amp; space (ISRO, DRDO, BEL-diode enclaves):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supply-chain or insider implants exfiltrate telemetry and design data in low-and-slow trickles over weeks; air-gap blocks cloud EDR and volume-only alarms drown in legit bulk transfers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Digital payments (NPCI/UPI, core banking, SWIFT — RBI rules):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encrypted-session malware and C2 ride inside TLS/QUIC payment flows that analysts are legally barred from decrypting — payload IDS is simply not an option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0784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Industry Problems We Solve (continued)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72618"/>
            <a:ext cx="10868745" cy="1116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Smart manufacturing &amp; oil &amp; gas (Jamnagar refinery, ONGC IoT fleets):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weak sensors get conscripted into botnets that flood and heartbeat; IoT gateways can't host heavy agents and no per-device baselines exist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Rail &amp; metro (Kavach signalling, Delhi Metro OT/IT boundary):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recon scans probe signalling hosts from bridged IT networks, but enterprise-tuned scanners false-alarm on every OT admin sweep and backup window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73697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Global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4398466"/>
            <a:ext cx="10868745" cy="851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Gulf energy, EU grids under NIS2, US pipelines under TSA directives face the identical pattern: regulated one-way architectures plus pervasive encryption plus analyst shortage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off-the-shelf behavioral layer exists that is diode-native, encrypted-safe, and low-FPR all at once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2128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How We Tackle Each Problem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868712"/>
            <a:ext cx="10868745" cy="1968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Grid/nuclear C2 + recon: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Tier-0 communication matrix encodes legitimate polling periods, peers, and JA4 fingerprints so normal SCADA stays silent; FFT periodicity → Random Forest catches jittered beacons; fan-out + port-entropy → XGBoost separates hostile scans from admin sweeps with per-scanner-IP scoring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Defence slow exfiltration: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per-device UEBA baselines plus Isolation Forest / VAE on ~10-minute windows — high confidence needs both destination-novelty and volume anomaly together; backups and patch windows are trained as explicit negatives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Payments encrypted malware: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JA4 fingerprint inventory plus 1D-CNN over SPLT packet-shape metadata, QUIC-aware, per-flow verdicts — zero decryption, fully compliant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441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How We Tackle Each Problem (continued)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39193"/>
            <a:ext cx="10868745" cy="170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Refinery/IoT botnet floods: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terminal Tier-1 detector (sketches + EWMA/CUSUM → shallow LightGBM) decides floods inline at line rate in sub-seconds; long-window periodicity state catches low-rate C2 heartbeats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Rail recon vs admin noise: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allowlisted maintenance schedules plus new-edge-vs-baseline features that fire only on never-seen edges; storm dedup collapses hundreds of probes into one evolving incident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Analyst shortage: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fusion layer correlates weak signals (DNS entropy + JA4 novelty + volume spike → single exfiltration verdict) with severity, calibrated confidence, and MITRE technique IDs, persisted for forensics and shown on a triage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59062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Why This Is Novel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61475" y="4252119"/>
            <a:ext cx="372061" cy="372070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6" name="Text 4"/>
          <p:cNvSpPr/>
          <p:nvPr/>
        </p:nvSpPr>
        <p:spPr>
          <a:xfrm>
            <a:off x="723485" y="428312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98830" y="4308971"/>
            <a:ext cx="294771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Diode-native feature engineering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8830" y="4925120"/>
            <a:ext cx="294771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one-way IAT spectra, SPLT shapes, JA4 novelty, and HLL fan-out built for traffic with no return packets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3213" y="4252119"/>
            <a:ext cx="372061" cy="372070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0" name="Text 8"/>
          <p:cNvSpPr/>
          <p:nvPr/>
        </p:nvSpPr>
        <p:spPr>
          <a:xfrm>
            <a:off x="4415223" y="428312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890568" y="4308971"/>
            <a:ext cx="294781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Allowlist-first tiering with a terminal Tier-1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0568" y="4925120"/>
            <a:ext cx="294781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known-good OT traffic never reaches ML; expensive deep models fire only on triggers; everything ships as CPU-runnable ONNX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5050" y="4252119"/>
            <a:ext cx="372061" cy="372070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8107060" y="428312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582406" y="4308971"/>
            <a:ext cx="2947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Compliant by construction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82406" y="4666655"/>
            <a:ext cx="294781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metadata-only detection deploys where decryption is banned and latency budgets are zero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161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Technologies &amp; Methodology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4442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Technologies to be used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1475" y="2905919"/>
            <a:ext cx="10868745" cy="2290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Capture &amp; dissection (Stage 1):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C/C++ with DPDK / AF_PACKET ring buffers + PF_RING; Zeek and Suricata in parser-only mode for protocol metadata (Ethernet, IPv4/6, TCP/UDP, ICMP, DNS, TLS, QUIC)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Stream backbone (Stage 2):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Apache Kafka (or Redpanda) partitioned by flow key, Redis Streams for buffering; Schema Registry with Protobuf/Avro contracts; exactly-once via idempotent producers and Flink checkpoints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Feature engineering (Stage 3):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Apache Flink and Polars for event-time windowing at 5s / 60s / 10min — computes Shannon entropy, packet-rate velocity, IAT vectors, FFT inputs, HLL fan-out, JA3/JA4 fingerprints, SPLT sequences, byte ratios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ML inference (Stage 4):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Python, PyTorch, XGBoost, LightGBM, scikit-learn (Random Forest, Isolation Forest); every model exported to ONNX and served on ONNX Runtime (Triton optional) — single CPU appliance, p99 under 10 ms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666107"/>
            <a:ext cx="10868745" cy="2290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Fusion &amp; storage (Stage 5 + 6a):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Go/Python fusion service (weighted scoring + dedup + MITRE mapping → JSONL alerts); ClickHouse columnar store with materialized views and hot-to-cold TTL tiering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Analyst surface (Stage 6b/6c):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React + strict TypeScript dashboard, API gateway, Grafana + Prometheus + OpenTelemetry observability; async webhook dispatch to SIEM, PagerDuty, Slack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MLOps &amp; infra: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DVC for datasets, Docker + Docker Compose for local runs, Kubernetes + Terraform for deployment; public training data per model (CIC-DDoS2019, CTU-13, UNSW-NB15, DGArchive, ISCXVPN2016, ToN-IoT, UQ NetFlow-v3 sets)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Hardware: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runs on one CPU-only appliance in the monitoring enclave; demo needs no diode hardware — only recorded pcaps and Docker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938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Methodology &amp; Process for Implementation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26816"/>
            <a:ext cx="10868745" cy="4051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Step 1 — Capture: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RX-only ingest of the optical TAP feed; strip payloads after header parse; emit IPFIX/NetFlow + protocol metadata with trace IDs attached at the NIC queue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Step 2 — Buffer: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partition streams by source, destination, and protocol; preserve per-flow ordering; absorb bursts so no packets drop (the diode has no retransmission path)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Step 3 — Window: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build one feature vector per flow per time window (5s for floods/scans, 60s/10min for beacons/exfiltration) using exactly the feature definitions the models were trained on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Step 4 — Tier-0 allowlist: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check every vector against the versioned communication matrix (peers, ports, polling periods, resolvers, JA4) plus per-device UEBA baselines; known-good passes silently, out-of-matrix escalates straight to fusion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Step 5 — Tier-1 triggers: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run cheap line-rate gates — sketches + EWMA/CUSUM for floods (decided terminally here), FFT pre-checks for beacons, fan-out gates for scans, volume/novelty pre-filters for DNS, encrypted, and exfiltration traffic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Step 6 — Tier-2 confirmers: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fire expensive models only on triggers — Random Forest (C2), XGBoost (recon), 1D-CNN + LightGBM (DGA), JA4 + SPLT-CNN (encrypted malware), Isolation Forest / VAE (exfiltration); each returns a 0–1 score plus evidence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Step 7 — Fuse &amp; deliver: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correlate multi-model signals into one verdict with severity, calibrated confidence, and MITRE technique ID; deduplicate storms; persist to ClickHouse; render on the SOC dashboard and dispatch out-of-band webhooks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3577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Feasibility &amp; Viability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1858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Why This Idea Is Feasible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1475" y="2480072"/>
            <a:ext cx="10868745" cy="314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component is proven open-source: DPDK packet capture, Kafka streaming, Flink windowing, XGBoost/LightGBM/Random Forest, ONNX Runtime, ClickHouse, React/Grafana — no exotic hardware, no licensed black boxes, all pinned in Docker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Runs on one CPU-only appliance: all six models export to ONNX and meet a 10 ms inference budget without GPUs, so deployment inside an air-gapped enclave is realistic and cheap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Training data already exists: a labelled public dataset is mapped to every model — CIC-DDoS2019 (floods), CTU-13 (C2), CIC-IDS2017/UNSW-NB15 (scans), DGArchive + Tranco (DGA), ISCXVPN2016 + JA4DB (encrypted), ToN-IoT + SWaT (exfiltration) — plus temporal NetFlow-v3 variants for windowing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Demonstrable without diode hardware: the full pipeline runs on recorded pcaps via one replay script, so the jury sees real alerts on a real dashboard with zero special equipment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Team maps to the build: five roles (network systems, data, ML, backend/security, frontend) each own specific pipeline stages, so work parallelises cleanly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759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Potential Challenges and Risks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85020"/>
            <a:ext cx="10868745" cy="293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False positives on legitimate OT traffic: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SCADA polling, admin sweeps, backups, and patch windows can mimic beaconing, scanning, and exfiltration signals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Encrypted-application drift: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new app versions change JA4 fingerprints and packet shapes, silently degrading the encrypted-session model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Class imbalance and label leakage: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attacks are rare in real traffic, and naive random train/test splits inflate accuracy (especially DGA families and per-device exfiltration)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Line-rate pressure: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1–10 Gbps bursts with no retransmission path mean any slow stage drops packets permanently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Alert fatigue: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scan storms and flood events can emit hundreds of alerts per second and drown analysts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Site-specific baselines: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every plant's communication matrix and device behaviour differs, so a model tuned at one site misbehaves at another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36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Strategies for Overcoming Challenges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425" y="1378744"/>
            <a:ext cx="5350039" cy="14542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868" y="1397794"/>
            <a:ext cx="51275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Tier-0 allowlist first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4868" y="1755477"/>
            <a:ext cx="512759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versioned communication matrix (peers, ports, polling periods, resolvers, JA4) plus per-device UEBA baselines filter known-good traffic before ML runs; polling protocols and maintenance schedules are explicit negative classes in training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0082" y="1378744"/>
            <a:ext cx="5350138" cy="14542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2525" y="1397794"/>
            <a:ext cx="512769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Drift monitoring with retraining triggers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02525" y="1755477"/>
            <a:ext cx="512769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track JA4 novelty rate and feature-distribution drift (PSI/KS) on live dashboards; fingerprint inventory is versioned and imported out-of-band, never auto-learned from attacker traffic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425" y="3125589"/>
            <a:ext cx="5350039" cy="14542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4868" y="3144639"/>
            <a:ext cx="51275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Honest evaluation protocol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64868" y="3502323"/>
            <a:ext cx="512759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time-based splits (no leakage), family-held-out testing for DGA, per-device and per-scanner-IP scoring for exfiltration and recon, plus mandatory cross-dataset transfer tests before any production claim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0082" y="3125589"/>
            <a:ext cx="5350138" cy="14542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02525" y="3144639"/>
            <a:ext cx="512769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Backpressure-aware design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402525" y="3502323"/>
            <a:ext cx="512769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partitioned Kafka buffering absorbs bursts; Tier-1 gates are sub-millisecond sketches and statistics; expensive Tier-2 models fire only on triggers, never on the full firehose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2425" y="4872434"/>
            <a:ext cx="5350039" cy="145424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4868" y="4891484"/>
            <a:ext cx="51275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Fusion-level dedup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864868" y="5249168"/>
            <a:ext cx="51275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sliding-window grouping collapses storms into single evolving incidents (500 probes become one alert); severity and calibrated confidence rank what analysts see first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0082" y="4872434"/>
            <a:ext cx="5350138" cy="145424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402525" y="4891484"/>
            <a:ext cx="512769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Per-site calibration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402525" y="5249168"/>
            <a:ext cx="512769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comm-matrix snapshots and baseline TTLs are config, not code — each deployment imports its own matrix, tunes fusion weights locally, and validates with a replay of its own traffic before going live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3577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Impact &amp; Benefits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1858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Impact on the Target Audience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1475" y="2480072"/>
            <a:ext cx="10868745" cy="314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SOC analysts in critical infrastructure: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go from thousands of raw events to a handful of confidence-ranked, MITRE-tagged incidents with evidence attached — triage time drops from hours of log-hunting to minutes on one dashboard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OT and plant operators (power, nuclear, rail, refineries):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gain visibility into the previously blind outbound stream with zero changes to control networks — no agents installed, no latency added, no maintenance windows needed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CISOs and compliance officers: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get a control that maps directly to CEA cyber guidelines, RBI data-localisation and no-decryption constraints, NIS2-style incident detection duties, and TSA pipeline directives — audit-ready with versioned matrices, model cards, and forensic retention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Indian public-sector buyers (NTPC, PGCIL, NPCIL, ISRO, DRDO, NPCI, Railways):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 BEL-diode-compatible, CPU-only, fully open-source stack means low procurement cost, no foreign-cloud dependency, and data that never leaves the enclave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Citizens at large: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fewer grid blackouts, safer rail signalling, uninterrupted digital payments, and protected strategic programmes — the beneficiaries who never see the tool but feel its absence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58503"/>
            <a:ext cx="82647" cy="82649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3" name="Text 1"/>
          <p:cNvSpPr/>
          <p:nvPr/>
        </p:nvSpPr>
        <p:spPr>
          <a:xfrm>
            <a:off x="909416" y="1234480"/>
            <a:ext cx="3237129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Social Benefits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09416" y="1664494"/>
            <a:ext cx="3237129" cy="3291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Protects essential services (electricity, transport, payments) that daily life and hospitals depend on.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Privacy-preserving by design: metadata-only detection means citizen and financial data is never decrypted or inspected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Builds domestic cybersecurity skill: five-role team structure trains students across networking, data, ML, backend, and frontend on a real national problem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53213" y="1322388"/>
            <a:ext cx="82647" cy="82649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4601154" y="1234480"/>
            <a:ext cx="323722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Economic Benefits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01154" y="1592163"/>
            <a:ext cx="3237228" cy="4672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Prevents breach costs that dwarf deployment cost: one OT incident can mean plant shutdowns, equipment damage, and regulatory penalties running into crores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Commodity deployment: single CPU appliance plus open-source software, versus expensive proprietary NDR boxes and GPU clusters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Reduces analyst staffing pressure: allowlist-first filtering and storm dedup let small SOC teams cover large networks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Import substitution: indigenous diode-compatible analytics instead of foreign closed-source monitoring suites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5050" y="1322388"/>
            <a:ext cx="82647" cy="82649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9" name="Text 7"/>
          <p:cNvSpPr/>
          <p:nvPr/>
        </p:nvSpPr>
        <p:spPr>
          <a:xfrm>
            <a:off x="8292992" y="1234480"/>
            <a:ext cx="323722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Environmental and Operational Benefits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92992" y="1850628"/>
            <a:ext cx="3237228" cy="3555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Lightweight models (ONNX on CPU, no GPU farms) keep power and cooling footprints minimal inside plant enclaves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Early detection of botnet conscription stops compromised IoT fleets from participating in internet-wide attacks, reducing global malicious traffic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Passive operation generates no extra network load and requires no disruptive inline changes to fragile legacy OT equipment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341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Research &amp; References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86223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Foundation Papers (Why Our Architecture Is Sound)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1475" y="2347714"/>
            <a:ext cx="10868745" cy="340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Kitsune: An Ensemble of Autoencoders for Online Network Intrusion Detection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Mirsky et al., NDSS 2018 — DOI: 10.14722/ndss.2018.23204, arXiv:1802.09089, code: github.com/ymirsky/Kitsune-py — closest streaming unsupervised NIDS reference for our Stage 3→4 design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FlowTransformer: A Transformer Framework for Flow-Based NIDS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Manocchio et al., Expert Systems with Applications 2024 — DOI: 10.1016/j.eswa.2023.122564, code: github.com/liamdm/FlowTransformer — flow-sequence modelling baseline for our Tier-2 experiments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TLS Fingerprinting with JA3 and JA3S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Althouse et al., Salesforce Engineering 2018 — engineering.salesforce.com/tls-fingerprinting-with-ja3-and-ja3s-247362855967 — basis of our JA4 encrypted-traffic profiling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Character-Level LSTM for DGA Detection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Woodbridge et al., arXiv:1611.00791 — reproducible char-level DGA baseline behind our 1D-CNN + LightGBM stack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Fast Portscan Detection Using Sequential Hypothesis Testing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Jung et al., IEEE S&amp;P 2004 — DOI: 10.1109/SECPRI.2004.1301325 — principled theory behind our fan-out scan gates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739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Research &amp; References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13020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Latest Research &amp; Training Datasets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1475" y="1609725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Cutting-Edge Research (2024–2026)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211623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Our solution incorporates the latest advancements in cybersecurity research, covering all six detector categories with peer-reviewed work: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2831505"/>
            <a:ext cx="10868745" cy="2521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AI-based time-series analysis for C2 beaconing detection (Gupta et al., 2025)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Aggregation-based beaconing across large networks (dl.acm.org, 2024)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Adaptive sliding window and LightGBM for DDoS (link.springer.com, 2025)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Sketch data-plane theory for Tier-1 detection (Wu et al., USENIX Security 2025)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Hybrid character + word embeddings for DeepDGA (Torrealba et al., CNSM 2025)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JA4+ fingerprints for malware in encrypted traffic (Matoušek et al., CNSM 2024)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Edge gateway defense with Autoencoder + Isolation Forest (Jamshidi et al., 2025)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Transfer-aware evaluation for NetFlow IDS (TAN-IDS, 2026)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15864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Robust Training with Public Datasets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210502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Our models are rigorously trained and validated using publicly available, high-fidelity datasets to ensure broad applicability and effectiveness: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820293"/>
            <a:ext cx="10868745" cy="2521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DDoS: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CIC-DDoS2019 (reflection/amplification, SYN/UDP floods)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C2 Beacons: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CTU-13 real botnet captures (13 labeled scenarios)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Recon/Scans: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CIC-IDS2017 PortScan + UNSW-NB15 Reconnaissance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DGA + DNS Tunnelling: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DGArchive + Tranco top-1M benign; CIRA-CIC-DoHBrw-2020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Encrypted Sessions: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ISCXVPN2016 + ISCXTor2016; JA4DB community inventory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Exfiltration: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CSE-CIC-IDS2018 Infiltration + ToN-IoT (staged exfil, IoT data-theft)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NetFlow Features: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UQ NF-v3 family (53 features including IAT stats)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Justification: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89-dataset systematic review (Computers &amp; Security 2025)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2026-09-12T20:07:37Z</dcterms:created>
  <dcterms:modified xsi:type="dcterms:W3CDTF">2026-09-12T20:07:37Z</dcterms:modified>
</cp:coreProperties>
</file>